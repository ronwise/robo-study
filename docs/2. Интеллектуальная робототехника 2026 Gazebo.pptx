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c79299e1_1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f8c79299e1_1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8c79299e1_1_2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f8c79299e1_1_2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c79299e1_1_3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f8c79299e1_1_3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c79299e1_1_3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f8c79299e1_1_3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d5b11c6c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g3f8d5b11c6c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8d5b11c6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d5b11c6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d5b11c6c_0_1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f8d5b11c6c_0_1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8d5b11c6c_0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f8d5b11c6c_0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d5b11c6c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8d5b11c6c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d5b11c6c_0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f8d5b11c6c_0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gif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ocs.ros.org/en/humble/Tutorials/Advanced/Simulators/Gazebo/Gazeb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345252" y="1276592"/>
            <a:ext cx="81909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lang="ru" sz="2100"/>
              <a:t>Лекция 2</a:t>
            </a:r>
            <a:endParaRPr b="1" sz="21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rPr b="1" lang="ru" sz="2100">
                <a:latin typeface="Arial"/>
                <a:ea typeface="Arial"/>
                <a:cs typeface="Arial"/>
                <a:sym typeface="Arial"/>
              </a:rPr>
              <a:t>МОДЕЛИРОВАНИЕ РОБОТОВ. СИМУЛЯТОР GAZEBO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345252" y="2080721"/>
            <a:ext cx="8283900" cy="18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ru"/>
              <a:t>Кирилл Федорович Муравьев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"/>
              <a:t>Научный сотрудник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"/>
              <a:t>Лаборатории Когнитивных Динамических Систем МФТИ и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"/>
              <a:t>ФИЦ ИУ РАН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ru"/>
              <a:t>кандидат технических наук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6690" y="3861503"/>
            <a:ext cx="1897356" cy="1281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6256" y="4142846"/>
            <a:ext cx="1995081" cy="774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/>
          <p:nvPr/>
        </p:nvSpPr>
        <p:spPr>
          <a:xfrm>
            <a:off x="224725" y="123910"/>
            <a:ext cx="85248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Центр когнитивного моделирования МФТИ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программа магистратуры </a:t>
            </a:r>
            <a:r>
              <a:rPr b="1" i="0" lang="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«Методы и технологии искусственного интеллекта»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курс </a:t>
            </a:r>
            <a:r>
              <a:rPr b="1" i="0" lang="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«Интеллектуальная робототехника»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7048" y="3933169"/>
            <a:ext cx="1122606" cy="104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-1" y="0"/>
            <a:ext cx="9144000" cy="3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Содержание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6775245" y="-34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580998" y="517350"/>
            <a:ext cx="78672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810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 sz="1800">
                <a:solidFill>
                  <a:schemeClr val="dk1"/>
                </a:solidFill>
              </a:rPr>
              <a:t>Для чего нужны симуляторы</a:t>
            </a:r>
            <a:endParaRPr sz="1800">
              <a:solidFill>
                <a:schemeClr val="dk1"/>
              </a:solidFill>
            </a:endParaRPr>
          </a:p>
          <a:p>
            <a:pPr indent="-3810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 sz="1800">
                <a:solidFill>
                  <a:schemeClr val="dk1"/>
                </a:solidFill>
              </a:rPr>
              <a:t>Основные современные робототехнические симуляторы</a:t>
            </a:r>
            <a:endParaRPr i="0" sz="1800" u="none" cap="none" strike="noStrike">
              <a:solidFill>
                <a:srgbClr val="000000"/>
              </a:solidFill>
            </a:endParaRPr>
          </a:p>
          <a:p>
            <a:pPr indent="-3810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ru" sz="1800"/>
              <a:t>Симулятор Gazebo: порядок работы, установка, запуск</a:t>
            </a:r>
            <a:endParaRPr sz="18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-2667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>
            <a:off x="-1" y="0"/>
            <a:ext cx="9144000" cy="3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sz="1500">
                <a:solidFill>
                  <a:schemeClr val="lt1"/>
                </a:solidFill>
              </a:rPr>
              <a:t>Для чего нужны робототехнические симуляторы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6775245" y="-34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581000" y="517350"/>
            <a:ext cx="4101600" cy="5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Проблемы работы на реальных роботах: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Проводить эксперименты на реальном роботе – долго и дорого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На больших роботах (беспилотные автомобили) – еще и опасно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rosbag с робота не подходит, если нужно взаимодействовать с миром (навигация)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Сложно измерить точность решения (например, ошибку восстановления траектории)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667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7" title="gazel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150" y="647200"/>
            <a:ext cx="3700624" cy="2075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7" title="map_exampl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4150" y="2779317"/>
            <a:ext cx="3700625" cy="2247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>
            <a:off x="-1" y="0"/>
            <a:ext cx="9144000" cy="3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sz="1500">
                <a:solidFill>
                  <a:schemeClr val="lt1"/>
                </a:solidFill>
              </a:rPr>
              <a:t>Для чего нужны робототехнические симуляторы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6775245" y="-34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581000" y="517350"/>
            <a:ext cx="5196300" cy="5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Возможности симуляторов</a:t>
            </a:r>
            <a:r>
              <a:rPr lang="ru" sz="1800"/>
              <a:t>: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Воспроизводимые эксперименты с замером показателей точности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Сотни параллельных копий одного робота, тысячи эпизодов взаимодействия со средой – обучение моделей RL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Предварительная отладка алгоритма перед тестом на реальном роботе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Недостатки симуляторов: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Идеально смоделировать физику реального мира невозможно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Как следствие – поведение алгоритма (и особенно нейронки) в симуляторе и на реальном роботе может различаться (Sim-to-Real Gap)</a:t>
            </a:r>
            <a:endParaRPr sz="18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667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8" title="isaac_lab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250" y="597925"/>
            <a:ext cx="3094775" cy="17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8" title="sim_to_real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8687" y="2622975"/>
            <a:ext cx="3061900" cy="2034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/>
          <p:nvPr/>
        </p:nvSpPr>
        <p:spPr>
          <a:xfrm>
            <a:off x="-1" y="0"/>
            <a:ext cx="9144000" cy="3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ru" sz="1500">
                <a:solidFill>
                  <a:schemeClr val="lt1"/>
                </a:solidFill>
              </a:rPr>
              <a:t>Для чего нужны робототехнические симуляторы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 txBox="1"/>
          <p:nvPr>
            <p:ph idx="12" type="sldNum"/>
          </p:nvPr>
        </p:nvSpPr>
        <p:spPr>
          <a:xfrm>
            <a:off x="6775245" y="-34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581000" y="517350"/>
            <a:ext cx="5196300" cy="51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Возможности симуляторов: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Воспроизводимые эксперименты с замером показателей точности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Сотни параллельных копий одного робота, тысячи эпизодов взаимодействия со средой – обучение моделей RL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Предварительная отладка алгоритма перед тестом на реальном роботе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Недостатки симуляторов: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Идеально смоделировать физику реального мира невозможно</a:t>
            </a:r>
            <a:endParaRPr sz="1800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800"/>
              <a:t>Как следствие – поведение алгоритма (и особенно нейронки) в симуляторе и на реальном роботе может различаться (Sim-to-Real Gap)</a:t>
            </a:r>
            <a:endParaRPr sz="1800"/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266700" lvl="0" marL="406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29" title="isaac_lab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250" y="597925"/>
            <a:ext cx="3094775" cy="17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 title="sim_to_real_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8687" y="2622975"/>
            <a:ext cx="3061900" cy="2034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/>
          <p:nvPr/>
        </p:nvSpPr>
        <p:spPr>
          <a:xfrm>
            <a:off x="0" y="0"/>
            <a:ext cx="9144000" cy="34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</a:rPr>
              <a:t>Основные современные симуляторы: Gazebo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7845137" y="36202"/>
            <a:ext cx="1218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5" name="Google Shape;175;p30"/>
          <p:cNvSpPr/>
          <p:nvPr/>
        </p:nvSpPr>
        <p:spPr>
          <a:xfrm>
            <a:off x="114649" y="461573"/>
            <a:ext cx="4892100" cy="20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интегрирован </a:t>
            </a:r>
            <a:r>
              <a:rPr lang="ru" sz="1800"/>
              <a:t>с</a:t>
            </a:r>
            <a:r>
              <a:rPr b="0" i="0" lang="ru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ROS</a:t>
            </a:r>
            <a:r>
              <a:rPr lang="ru" sz="1800"/>
              <a:t> из коробки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низкие требования к железу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/>
              <a:t>моделирование всех основных сенсоров, информация о GT позе робота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/>
              <a:t>плохая фотореалистичность</a:t>
            </a:r>
            <a:endParaRPr sz="1800"/>
          </a:p>
        </p:txBody>
      </p:sp>
      <p:pic>
        <p:nvPicPr>
          <p:cNvPr descr="gazebo starting view pose control [closed] - ROS Answers: Open Source Q&amp;A  Forum"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2630" y="302964"/>
            <a:ext cx="3841360" cy="2160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rive a Husky — ROS Tutorials 0.5.1 documentation" id="177" name="Google Shape;17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45" y="2627431"/>
            <a:ext cx="3312320" cy="1720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2 drifts over time in Gazebo - ROS Answers: Open Source Q&amp;A Forum" id="178" name="Google Shape;17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2621" y="2653073"/>
            <a:ext cx="2274826" cy="1741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pen Source Robotics: Getting Started with Gazebo and ROS 2" id="179" name="Google Shape;17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73104" y="2627431"/>
            <a:ext cx="3059882" cy="1721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0" y="0"/>
            <a:ext cx="9144000" cy="34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</a:rPr>
              <a:t>Основные современные симуляторы: ISAAC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7845137" y="36202"/>
            <a:ext cx="1218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6" name="Google Shape;186;p31"/>
          <p:cNvSpPr/>
          <p:nvPr/>
        </p:nvSpPr>
        <p:spPr>
          <a:xfrm>
            <a:off x="114650" y="461575"/>
            <a:ext cx="83787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/>
              <a:t>фотореалистичность выше, чем у Gazebo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ISAAC Lab – оптимизированная параллельная симуляция для обучения моделей – RL, VLA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/>
              <a:t>запуск и интеграция с ROS сложнее, чем в Gazebo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/>
              <a:t>для работы нужно не менее 8 Гб видеопамяти</a:t>
            </a:r>
            <a:endParaRPr sz="1800"/>
          </a:p>
        </p:txBody>
      </p:sp>
      <p:pic>
        <p:nvPicPr>
          <p:cNvPr id="187" name="Google Shape;187;p31" title="isaac_lab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098" y="2387250"/>
            <a:ext cx="4270078" cy="242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1"/>
          <p:cNvPicPr preferRelativeResize="0"/>
          <p:nvPr/>
        </p:nvPicPr>
        <p:blipFill rotWithShape="1">
          <a:blip r:embed="rId4">
            <a:alphaModFix/>
          </a:blip>
          <a:srcRect b="17948" l="10813" r="47961" t="31806"/>
          <a:stretch/>
        </p:blipFill>
        <p:spPr>
          <a:xfrm>
            <a:off x="194525" y="2387250"/>
            <a:ext cx="3537024" cy="2472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0" y="0"/>
            <a:ext cx="9144000" cy="34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</a:rPr>
              <a:t>Основные современные симуляторы: CARLA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2"/>
          <p:cNvSpPr txBox="1"/>
          <p:nvPr>
            <p:ph idx="12" type="sldNum"/>
          </p:nvPr>
        </p:nvSpPr>
        <p:spPr>
          <a:xfrm>
            <a:off x="7845137" y="36202"/>
            <a:ext cx="1218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114650" y="461575"/>
            <a:ext cx="8378700" cy="16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ru" sz="1800"/>
              <a:t>разработан специально для симуляции беспилотного транспорта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на базе Unreal Engine, очень высокая фотореалистичность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есть симуляция всех сенсоров и данные истинной позы, а также семантическая сегментация облаков точек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требования к железу еще выше, чем у ISAAC, docker-образ весит 170 Гб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96" name="Google Shape;19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5025" y="2182850"/>
            <a:ext cx="4871479" cy="27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/>
          <p:nvPr/>
        </p:nvSpPr>
        <p:spPr>
          <a:xfrm>
            <a:off x="0" y="0"/>
            <a:ext cx="9144000" cy="34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</a:rPr>
              <a:t>Основные современные симуляторы: Habitat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3"/>
          <p:cNvSpPr txBox="1"/>
          <p:nvPr>
            <p:ph idx="12" type="sldNum"/>
          </p:nvPr>
        </p:nvSpPr>
        <p:spPr>
          <a:xfrm>
            <a:off x="7845137" y="36202"/>
            <a:ext cx="1218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3" name="Google Shape;203;p33"/>
          <p:cNvSpPr/>
          <p:nvPr/>
        </p:nvSpPr>
        <p:spPr>
          <a:xfrm>
            <a:off x="114650" y="461575"/>
            <a:ext cx="83787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Упор на симуляцию изображений (RGB-D), а не физики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Высокая фотореалистичность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Физика движения не моделируется вообще, лидаров тоже нет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Легкий, низкие требования к железу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Быстрая симуляция (до 10000 FPS) – удобен для обучения моделей RL</a:t>
            </a:r>
            <a:endParaRPr sz="1800"/>
          </a:p>
          <a:p>
            <a:pPr indent="-2667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ru" sz="1800"/>
              <a:t>Нет интеграции с ROS</a:t>
            </a:r>
            <a:endParaRPr sz="1800"/>
          </a:p>
        </p:txBody>
      </p:sp>
      <p:pic>
        <p:nvPicPr>
          <p:cNvPr descr="https://github.com/facebookresearch/habitat-sim/raw/master/docs/images/habitat_compressed.gif" id="204" name="Google Shape;2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175" y="2803967"/>
            <a:ext cx="3851975" cy="2166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3" title="habitat_back_projection_00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650" y="2780650"/>
            <a:ext cx="4695527" cy="219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/>
          <p:nvPr/>
        </p:nvSpPr>
        <p:spPr>
          <a:xfrm>
            <a:off x="0" y="0"/>
            <a:ext cx="9144000" cy="34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</a:rPr>
              <a:t>Симулятор Gazebo: порядок работы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4"/>
          <p:cNvSpPr txBox="1"/>
          <p:nvPr>
            <p:ph idx="12" type="sldNum"/>
          </p:nvPr>
        </p:nvSpPr>
        <p:spPr>
          <a:xfrm>
            <a:off x="7845137" y="36202"/>
            <a:ext cx="1218900" cy="3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2" name="Google Shape;212;p34"/>
          <p:cNvSpPr/>
          <p:nvPr/>
        </p:nvSpPr>
        <p:spPr>
          <a:xfrm>
            <a:off x="114650" y="461575"/>
            <a:ext cx="8652300" cy="4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Установка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Gazebo уже включен в пакет ros-humble-desktop-full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Запуск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ign gazebo -v 4 -r /path/to/world_model.sdf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Вывод информации из топиков: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Gazebo - ign topic -t /topic_name -e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ROS - ros2 topic echo /topic_name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/>
              <a:t>Связка Gazebo + ROS:</a:t>
            </a:r>
            <a:endParaRPr b="1"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hlinkClick r:id="rId3"/>
              </a:rPr>
              <a:t>https://docs.ros.org/en/humble/Tutorials/Advanced/Simulators/Gazebo/Gazebo.html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