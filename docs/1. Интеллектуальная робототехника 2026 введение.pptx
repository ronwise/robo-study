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Roboto Condensed"/>
      <p:regular r:id="rId42"/>
      <p:bold r:id="rId43"/>
      <p:italic r:id="rId44"/>
      <p:boldItalic r:id="rId45"/>
    </p:embeddedFont>
    <p:embeddedFont>
      <p:font typeface="Roboto Condensed Light"/>
      <p:regular r:id="rId46"/>
      <p:bold r:id="rId47"/>
      <p:italic r:id="rId48"/>
      <p:boldItalic r:id="rId49"/>
    </p:embeddedFon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hasjx+9ECp7EdVcdbpxwQkKWH2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RobotoCondensed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RobotoCondensed-italic.fntdata"/><Relationship Id="rId43" Type="http://schemas.openxmlformats.org/officeDocument/2006/relationships/font" Target="fonts/RobotoCondensed-bold.fntdata"/><Relationship Id="rId46" Type="http://schemas.openxmlformats.org/officeDocument/2006/relationships/font" Target="fonts/RobotoCondensedLight-regular.fntdata"/><Relationship Id="rId45" Type="http://schemas.openxmlformats.org/officeDocument/2006/relationships/font" Target="fonts/RobotoCondense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CondensedLight-italic.fntdata"/><Relationship Id="rId47" Type="http://schemas.openxmlformats.org/officeDocument/2006/relationships/font" Target="fonts/RobotoCondensedLight-bold.fntdata"/><Relationship Id="rId49" Type="http://schemas.openxmlformats.org/officeDocument/2006/relationships/font" Target="fonts/RobotoCondensed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c2165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7a1cc2165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37fbf1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fa37fbf1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1cc21658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7a1cc21658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a1cc21658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7a1cc21658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a1cc21658_0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7a1cc21658_0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a37fbf11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a37fbf11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4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www.oleg-shipitko.com/teaching?fbclid=IwAR1Rmr5_nSQ7LiYuKce4l0fryEDbAPj6s-Ofn_fsPHWZadRSTo9LpI1QQa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Relationship Id="rId5" Type="http://schemas.openxmlformats.org/officeDocument/2006/relationships/image" Target="../media/image9.jp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hyperlink" Target="https://www.oleg-shipitko.com/teaching?fbclid=IwAR1Rmr5_nSQ7LiYuKce4l0fryEDbAPj6s-Ofn_fsPHWZadRSTo9LpI1QQa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3.jp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3.jpg"/><Relationship Id="rId5" Type="http://schemas.openxmlformats.org/officeDocument/2006/relationships/image" Target="../media/image29.png"/><Relationship Id="rId6" Type="http://schemas.openxmlformats.org/officeDocument/2006/relationships/image" Target="../media/image15.png"/><Relationship Id="rId7" Type="http://schemas.openxmlformats.org/officeDocument/2006/relationships/image" Target="../media/image24.jpg"/><Relationship Id="rId8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hyperlink" Target="https://www.oleg-shipitko.com/teaching?fbclid=IwAR1Rmr5_nSQ7LiYuKce4l0fryEDbAPj6s-Ofn_fsPHWZadRSTo9LpI1QQao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45.png"/><Relationship Id="rId5" Type="http://schemas.openxmlformats.org/officeDocument/2006/relationships/image" Target="../media/image22.png"/><Relationship Id="rId6" Type="http://schemas.openxmlformats.org/officeDocument/2006/relationships/hyperlink" Target="https://www.oleg-shipitko.com/teaching?fbclid=IwAR1Rmr5_nSQ7LiYuKce4l0fryEDbAPj6s-Ofn_fsPHWZadRSTo9LpI1QQa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52.png"/><Relationship Id="rId6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44.png"/><Relationship Id="rId11" Type="http://schemas.openxmlformats.org/officeDocument/2006/relationships/image" Target="../media/image50.png"/><Relationship Id="rId10" Type="http://schemas.openxmlformats.org/officeDocument/2006/relationships/image" Target="../media/image30.png"/><Relationship Id="rId9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55.png"/><Relationship Id="rId5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iki.ros.org/" TargetMode="External"/><Relationship Id="rId4" Type="http://schemas.openxmlformats.org/officeDocument/2006/relationships/hyperlink" Target="http://docs.ros.org/" TargetMode="External"/><Relationship Id="rId5" Type="http://schemas.openxmlformats.org/officeDocument/2006/relationships/image" Target="../media/image49.png"/><Relationship Id="rId6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wiki.ros.org/Client%20Libraries" TargetMode="External"/><Relationship Id="rId4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ros.org/en/humble/Tutorial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460336" y="1702122"/>
            <a:ext cx="10921254" cy="962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ru-RU" sz="2800"/>
              <a:t>Введение в курс</a:t>
            </a:r>
            <a:br>
              <a:rPr b="1" lang="ru-RU" sz="2800"/>
            </a:br>
            <a:r>
              <a:rPr b="1" lang="ru-RU" sz="2800">
                <a:latin typeface="Calibri"/>
                <a:ea typeface="Calibri"/>
                <a:cs typeface="Calibri"/>
                <a:sym typeface="Calibri"/>
              </a:rPr>
              <a:t>РОБОТ КАК ИНТЕЛЛЕКТУАЛЬНЫЙ АГЕНТ</a:t>
            </a:r>
            <a:endParaRPr b="1"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460336" y="2774295"/>
            <a:ext cx="11044967" cy="244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/>
              <a:t>Кирилл Федорович Муравьев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Научный сотрудник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Лаборатории Когнитивных Динамических Систем МФТИ и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ФИЦ ИУ РАН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кандидат технических наук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253" y="5148671"/>
            <a:ext cx="2529808" cy="170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5008" y="5523795"/>
            <a:ext cx="2660108" cy="103300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299633" y="165214"/>
            <a:ext cx="11366374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Центр когнитивного моделирования МФТИ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программа магистратуры </a:t>
            </a:r>
            <a:r>
              <a:rPr b="1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«Методы и технологии искусственного интеллекта»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 </a:t>
            </a:r>
            <a:r>
              <a:rPr b="1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«Интеллектуальная робототехника»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6064" y="5244225"/>
            <a:ext cx="1496809" cy="139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Содержание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74675" y="689800"/>
            <a:ext cx="7735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34988" lvl="0" marL="5349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 курсе</a:t>
            </a:r>
            <a:endParaRPr/>
          </a:p>
          <a:p>
            <a:pPr indent="-534988" lvl="0" marL="5349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Определения и история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4988" lvl="0" marL="5349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Конструктивные типы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области применения роботов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4988" lvl="0" marL="5349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ru-RU" sz="2800">
                <a:latin typeface="Calibri"/>
                <a:ea typeface="Calibri"/>
                <a:cs typeface="Calibri"/>
                <a:sym typeface="Calibri"/>
              </a:rPr>
              <a:t>Операционная система роботов</a:t>
            </a: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ROS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7188" lvl="0" marL="5349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1cc21658_0_17"/>
          <p:cNvSpPr txBox="1"/>
          <p:nvPr>
            <p:ph type="ctrTitle"/>
          </p:nvPr>
        </p:nvSpPr>
        <p:spPr>
          <a:xfrm>
            <a:off x="0" y="2556000"/>
            <a:ext cx="12192000" cy="8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ru-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 курсе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3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 курсе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3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12" name="Google Shape;112;p33"/>
          <p:cNvSpPr txBox="1"/>
          <p:nvPr/>
        </p:nvSpPr>
        <p:spPr>
          <a:xfrm>
            <a:off x="101875" y="556525"/>
            <a:ext cx="7773300" cy="5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лабораторных занятий по 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пары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Время проведения:</a:t>
            </a: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 3 и 4 пары понедельника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Стандартное занятие: 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Краткая лекция (~30 минут)</a:t>
            </a: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</a:t>
            </a: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ыполнение лабораторных заданий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задания на оценку, выполняемых на реальном роботе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Состав лабораторных заданий: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Работа на ноутбуках (симуляции и пр.)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Работа с роботами Jetbot и дополнительным оборудованием (манипуляторы и т.д.)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Задания на роботах выполняются в бригадах по 2-3 человека, один робот на бригаду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Задания на ноутбуках выполняются индивидуально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3" name="Google Shape;113;p33" title="jetbo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5025" y="882330"/>
            <a:ext cx="3901826" cy="51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37fbf11a_0_0"/>
          <p:cNvSpPr/>
          <p:nvPr/>
        </p:nvSpPr>
        <p:spPr>
          <a:xfrm>
            <a:off x="-1" y="0"/>
            <a:ext cx="12192000" cy="4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 курсе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a37fbf11a_0_0"/>
          <p:cNvSpPr txBox="1"/>
          <p:nvPr>
            <p:ph idx="12" type="sldNum"/>
          </p:nvPr>
        </p:nvSpPr>
        <p:spPr>
          <a:xfrm>
            <a:off x="9033660" y="-466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20" name="Google Shape;120;g3fa37fbf11a_0_0"/>
          <p:cNvSpPr txBox="1"/>
          <p:nvPr/>
        </p:nvSpPr>
        <p:spPr>
          <a:xfrm>
            <a:off x="101885" y="556519"/>
            <a:ext cx="7773300" cy="6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Порядок оценивания курса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Зачет с оценкой: максимум 10 баллов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баллов – выполнение заданий из лабораторных работ: 3 задания по 2 балла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устный зачет по теоретическому материалу (~14.12)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Возможная альтернатива баллам за зачет – проект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(проект не должен совпадать с исследовательской работой в лабораториях ЦКМ и с вашей выпускной квалификационной работой)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Дополнительные баллы: индивидуальные доклады (отдельные темы, интересные статьи, свой опыт)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Задания на оценку (приблизительные темы и сроки):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Реализовать простейший алгоритм движения на целевой объект (Aruco-маркер) на роботе – 12.10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Восстановить траекторию робота по данным с его сенсоров – 09.11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Мобильная манипуляция (подъехать к кубику и взять его) в симуляторе – 07.12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fa37fbf11a_0_0" title="jetbo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5025" y="882330"/>
            <a:ext cx="3901826" cy="51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 курсе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34"/>
          <p:cNvSpPr txBox="1"/>
          <p:nvPr/>
        </p:nvSpPr>
        <p:spPr>
          <a:xfrm>
            <a:off x="5821025" y="556526"/>
            <a:ext cx="60363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Лабораторная работа №1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(подготовительное домашнее задание)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Нужно определиться с бригадами и ноутбуками.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На ноутбуке у каждой бригады должны быть: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ОС Ubuntu 2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0.04+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либо докер-образ с ней)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Visual Studio Code с Remote Explorer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 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Humble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Desktop Full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Симулятор Gazebo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Желательно – ИИ-агент (Cursor, Claude, Codex, etc)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34"/>
          <p:cNvSpPr/>
          <p:nvPr/>
        </p:nvSpPr>
        <p:spPr>
          <a:xfrm>
            <a:off x="5911551" y="4906440"/>
            <a:ext cx="6036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Давайте разберемся с составом бригад</a:t>
            </a:r>
            <a:endParaRPr/>
          </a:p>
        </p:txBody>
      </p:sp>
      <p:sp>
        <p:nvSpPr>
          <p:cNvPr id="130" name="Google Shape;130;p34"/>
          <p:cNvSpPr txBox="1"/>
          <p:nvPr/>
        </p:nvSpPr>
        <p:spPr>
          <a:xfrm>
            <a:off x="101874" y="556525"/>
            <a:ext cx="5459400" cy="6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Основные темы: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Общая информация о роботах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Robotic Operation System: особенности, программирование, работа с данными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Коммуникация с роботами: интерфейсы, подключение сенсоров  и актуаторов, связь по сети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Сенсоры и обработка информации     с них: камеры, лидары, одометрия, фильтрация данных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Актуаторы и кинодинамика: приводы, манипуляторы, колесные платформы, прямая и обратная кинематика, динамика и управление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Средства моделирования и симуляции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Навигация: SLAM, планирование траекторий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a1cc21658_0_96"/>
          <p:cNvSpPr txBox="1"/>
          <p:nvPr>
            <p:ph type="ctrTitle"/>
          </p:nvPr>
        </p:nvSpPr>
        <p:spPr>
          <a:xfrm>
            <a:off x="0" y="2556000"/>
            <a:ext cx="12192000" cy="8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ru-RU" sz="2800">
                <a:solidFill>
                  <a:schemeClr val="lt1"/>
                </a:solidFill>
              </a:rPr>
              <a:t>История робототехники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0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История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0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cxnSp>
        <p:nvCxnSpPr>
          <p:cNvPr id="142" name="Google Shape;142;p40"/>
          <p:cNvCxnSpPr/>
          <p:nvPr/>
        </p:nvCxnSpPr>
        <p:spPr>
          <a:xfrm>
            <a:off x="6071855" y="400110"/>
            <a:ext cx="18000" cy="63873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0"/>
          <p:cNvSpPr txBox="1"/>
          <p:nvPr/>
        </p:nvSpPr>
        <p:spPr>
          <a:xfrm>
            <a:off x="6080908" y="4252618"/>
            <a:ext cx="6234904" cy="2620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1969 – мехатроника (механика + электроника)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1970-е японские мехатронные роботы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1973 роботы, программируемые с компьютера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1970-е робототехника как реальная наука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#Видеохронология: История создания первого промышленного робота" id="144" name="Google Shape;1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188" y="1753766"/>
            <a:ext cx="3929219" cy="155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0"/>
          <p:cNvSpPr txBox="1"/>
          <p:nvPr/>
        </p:nvSpPr>
        <p:spPr>
          <a:xfrm>
            <a:off x="6616566" y="3368392"/>
            <a:ext cx="5048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Первый промышленный манипулятор Unimate, США, 1959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0"/>
          <p:cNvSpPr txBox="1"/>
          <p:nvPr/>
        </p:nvSpPr>
        <p:spPr>
          <a:xfrm>
            <a:off x="6089962" y="914401"/>
            <a:ext cx="6120145" cy="106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1950-60-е Г. Девол – программируемые манипуляторы на гидравлических сервоприводах</a:t>
            </a:r>
            <a:endParaRPr/>
          </a:p>
        </p:txBody>
      </p:sp>
      <p:sp>
        <p:nvSpPr>
          <p:cNvPr id="147" name="Google Shape;147;p40"/>
          <p:cNvSpPr txBox="1"/>
          <p:nvPr/>
        </p:nvSpPr>
        <p:spPr>
          <a:xfrm>
            <a:off x="143037" y="1034345"/>
            <a:ext cx="557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1890-1940-е – р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азвитие телемеханики</a:t>
            </a:r>
            <a:endParaRPr/>
          </a:p>
        </p:txBody>
      </p:sp>
      <p:pic>
        <p:nvPicPr>
          <p:cNvPr descr="https://upload.wikimedia.org/wikipedia/commons/thumb/4/4b/Tt-26.jpg/250px-Tt-26.jpg" id="148" name="Google Shape;148;p40"/>
          <p:cNvPicPr preferRelativeResize="0"/>
          <p:nvPr/>
        </p:nvPicPr>
        <p:blipFill rotWithShape="1">
          <a:blip r:embed="rId4">
            <a:alphaModFix/>
          </a:blip>
          <a:srcRect b="52458" l="0" r="190" t="0"/>
          <a:stretch/>
        </p:blipFill>
        <p:spPr>
          <a:xfrm>
            <a:off x="813286" y="4109020"/>
            <a:ext cx="3616016" cy="215641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0"/>
          <p:cNvSpPr txBox="1"/>
          <p:nvPr/>
        </p:nvSpPr>
        <p:spPr>
          <a:xfrm>
            <a:off x="1265041" y="6316033"/>
            <a:ext cx="27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Телетанк ТТ-26, СССР 1940</a:t>
            </a:r>
            <a:endParaRPr/>
          </a:p>
        </p:txBody>
      </p:sp>
      <p:pic>
        <p:nvPicPr>
          <p:cNvPr id="150" name="Google Shape;150;p40"/>
          <p:cNvPicPr preferRelativeResize="0"/>
          <p:nvPr/>
        </p:nvPicPr>
        <p:blipFill rotWithShape="1">
          <a:blip r:embed="rId5">
            <a:alphaModFix/>
          </a:blip>
          <a:srcRect b="14269" l="32321" r="21374" t="29422"/>
          <a:stretch/>
        </p:blipFill>
        <p:spPr>
          <a:xfrm>
            <a:off x="743187" y="1810142"/>
            <a:ext cx="3523886" cy="229887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0"/>
          <p:cNvSpPr txBox="1"/>
          <p:nvPr/>
        </p:nvSpPr>
        <p:spPr>
          <a:xfrm>
            <a:off x="670993" y="1502350"/>
            <a:ext cx="52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Радиоуправляемое судно Тесла, 1898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История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58" name="Google Shape;158;p41"/>
          <p:cNvSpPr txBox="1"/>
          <p:nvPr/>
        </p:nvSpPr>
        <p:spPr>
          <a:xfrm>
            <a:off x="5647525" y="778001"/>
            <a:ext cx="6234900" cy="24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1980-е – научные конференции и журналы по робототехнике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1984 (87) IEEE Robotics and Automation Society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ICRA – Conf. on Robotics &amp; Automation (B -&gt; A*)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IROS – Conf. on Intelligent Robots &amp; Systems (A)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IEEE Transactions on Robotics (Q1)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Robotic and Automation Letters (Q1)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9" name="Google Shape;159;p41"/>
          <p:cNvPicPr preferRelativeResize="0"/>
          <p:nvPr/>
        </p:nvPicPr>
        <p:blipFill rotWithShape="1">
          <a:blip r:embed="rId3">
            <a:alphaModFix/>
          </a:blip>
          <a:srcRect b="1131" l="21344" r="12323" t="1090"/>
          <a:stretch/>
        </p:blipFill>
        <p:spPr>
          <a:xfrm>
            <a:off x="588625" y="3634750"/>
            <a:ext cx="3695251" cy="306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1"/>
          <p:cNvSpPr txBox="1"/>
          <p:nvPr/>
        </p:nvSpPr>
        <p:spPr>
          <a:xfrm>
            <a:off x="438450" y="1919875"/>
            <a:ext cx="5305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Shakey (Стенфордский университет, 1966-1972) – первый мобильный робот с возможностью планирования выполнения комплексных задач. В рамках проекта Shakey были разработаны: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 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Планирование на графе видимости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Преобразование Хафа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1"/>
          <p:cNvSpPr txBox="1"/>
          <p:nvPr/>
        </p:nvSpPr>
        <p:spPr>
          <a:xfrm>
            <a:off x="547475" y="778000"/>
            <a:ext cx="49944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1960-70-е – первые мобильные роботы, роботы-луноходы,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первые методы автономной навигации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1" title="Soviet_moonrove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300" y="3691712"/>
            <a:ext cx="3933374" cy="29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1cc21658_0_175"/>
          <p:cNvSpPr txBox="1"/>
          <p:nvPr>
            <p:ph type="ctrTitle"/>
          </p:nvPr>
        </p:nvSpPr>
        <p:spPr>
          <a:xfrm>
            <a:off x="0" y="2556000"/>
            <a:ext cx="12192000" cy="8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ru-RU" sz="2800">
                <a:solidFill>
                  <a:schemeClr val="lt1"/>
                </a:solidFill>
              </a:rPr>
              <a:t>Разновидности и области применения роботов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4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Классификация роботов по способу передвижения</a:t>
            </a:r>
            <a:endParaRPr/>
          </a:p>
        </p:txBody>
      </p:sp>
      <p:pic>
        <p:nvPicPr>
          <p:cNvPr id="173" name="Google Shape;173;p44"/>
          <p:cNvPicPr preferRelativeResize="0"/>
          <p:nvPr/>
        </p:nvPicPr>
        <p:blipFill rotWithShape="1">
          <a:blip r:embed="rId3">
            <a:alphaModFix/>
          </a:blip>
          <a:srcRect b="15508" l="13555" r="12130" t="19876"/>
          <a:stretch/>
        </p:blipFill>
        <p:spPr>
          <a:xfrm>
            <a:off x="238626" y="929640"/>
            <a:ext cx="11714747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4"/>
          <p:cNvSpPr/>
          <p:nvPr/>
        </p:nvSpPr>
        <p:spPr>
          <a:xfrm>
            <a:off x="238626" y="6182975"/>
            <a:ext cx="119533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Слайд: О. Шипитько. Курс "</a:t>
            </a:r>
            <a:r>
              <a:rPr b="0" i="0" lang="ru-RU" sz="14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Моделирование колесных роботов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 кафедры когнитивных технологий Московского физико-технического института (МФТИ), 2020</a:t>
            </a:r>
            <a:endParaRPr b="0" i="0" sz="1400" u="none" cap="none" strike="noStrike">
              <a:solidFill>
                <a:srgbClr val="72AB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44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2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Конструктивные разновидности роботов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2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182" name="Google Shape;182;p42"/>
          <p:cNvSpPr txBox="1"/>
          <p:nvPr/>
        </p:nvSpPr>
        <p:spPr>
          <a:xfrm>
            <a:off x="3580284" y="665161"/>
            <a:ext cx="5031430" cy="47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Роботы, рассматриваемые в курсе</a:t>
            </a:r>
            <a:endParaRPr/>
          </a:p>
        </p:txBody>
      </p:sp>
      <p:sp>
        <p:nvSpPr>
          <p:cNvPr id="183" name="Google Shape;183;p42"/>
          <p:cNvSpPr txBox="1"/>
          <p:nvPr/>
        </p:nvSpPr>
        <p:spPr>
          <a:xfrm>
            <a:off x="852124" y="4552250"/>
            <a:ext cx="238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Манипуляторы</a:t>
            </a:r>
            <a:endParaRPr/>
          </a:p>
        </p:txBody>
      </p:sp>
      <p:sp>
        <p:nvSpPr>
          <p:cNvPr id="184" name="Google Shape;184;p42"/>
          <p:cNvSpPr txBox="1"/>
          <p:nvPr/>
        </p:nvSpPr>
        <p:spPr>
          <a:xfrm>
            <a:off x="8729800" y="5526897"/>
            <a:ext cx="3212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Мобильные 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колесные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платформы</a:t>
            </a:r>
            <a:endParaRPr/>
          </a:p>
        </p:txBody>
      </p:sp>
      <p:sp>
        <p:nvSpPr>
          <p:cNvPr id="185" name="Google Shape;185;p42"/>
          <p:cNvSpPr txBox="1"/>
          <p:nvPr/>
        </p:nvSpPr>
        <p:spPr>
          <a:xfrm>
            <a:off x="3907556" y="6412292"/>
            <a:ext cx="3491983" cy="434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Мобильные манипуляторы</a:t>
            </a:r>
            <a:endParaRPr/>
          </a:p>
        </p:txBody>
      </p:sp>
      <p:pic>
        <p:nvPicPr>
          <p:cNvPr id="186" name="Google Shape;1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315" y="1663440"/>
            <a:ext cx="2888810" cy="288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9107" y="1635449"/>
            <a:ext cx="2197455" cy="192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2673" y="3648184"/>
            <a:ext cx="3671934" cy="192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50125" y="3259852"/>
            <a:ext cx="4587916" cy="3152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42"/>
          <p:cNvCxnSpPr/>
          <p:nvPr/>
        </p:nvCxnSpPr>
        <p:spPr>
          <a:xfrm flipH="1" rot="10800000">
            <a:off x="2868395" y="2598547"/>
            <a:ext cx="2329158" cy="39088"/>
          </a:xfrm>
          <a:prstGeom prst="straightConnector1">
            <a:avLst/>
          </a:prstGeom>
          <a:noFill/>
          <a:ln cap="flat" cmpd="sng" w="5080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42"/>
          <p:cNvCxnSpPr/>
          <p:nvPr/>
        </p:nvCxnSpPr>
        <p:spPr>
          <a:xfrm rot="10800000">
            <a:off x="5653548" y="2598547"/>
            <a:ext cx="2583748" cy="0"/>
          </a:xfrm>
          <a:prstGeom prst="straightConnector1">
            <a:avLst/>
          </a:prstGeom>
          <a:noFill/>
          <a:ln cap="flat" cmpd="sng" w="5080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42"/>
          <p:cNvCxnSpPr/>
          <p:nvPr/>
        </p:nvCxnSpPr>
        <p:spPr>
          <a:xfrm>
            <a:off x="5411044" y="2825198"/>
            <a:ext cx="0" cy="434654"/>
          </a:xfrm>
          <a:prstGeom prst="straightConnector1">
            <a:avLst/>
          </a:prstGeom>
          <a:noFill/>
          <a:ln cap="flat" cmpd="sng" w="5080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42"/>
          <p:cNvSpPr/>
          <p:nvPr/>
        </p:nvSpPr>
        <p:spPr>
          <a:xfrm flipH="1" rot="10800000">
            <a:off x="5247473" y="2429961"/>
            <a:ext cx="327143" cy="346960"/>
          </a:xfrm>
          <a:prstGeom prst="plus">
            <a:avLst>
              <a:gd fmla="val 25000" name="adj"/>
            </a:avLst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роботов</a:t>
            </a:r>
            <a:endParaRPr/>
          </a:p>
        </p:txBody>
      </p:sp>
      <p:sp>
        <p:nvSpPr>
          <p:cNvPr id="200" name="Google Shape;200;p45"/>
          <p:cNvSpPr/>
          <p:nvPr/>
        </p:nvSpPr>
        <p:spPr>
          <a:xfrm>
            <a:off x="422827" y="685075"/>
            <a:ext cx="63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Летающие - картографирование, мониторинг, разведка и т.д.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45"/>
          <p:cNvPicPr preferRelativeResize="0"/>
          <p:nvPr/>
        </p:nvPicPr>
        <p:blipFill rotWithShape="1">
          <a:blip r:embed="rId3">
            <a:alphaModFix/>
          </a:blip>
          <a:srcRect b="17425" l="17849" r="16948" t="15307"/>
          <a:stretch/>
        </p:blipFill>
        <p:spPr>
          <a:xfrm>
            <a:off x="1017970" y="1180835"/>
            <a:ext cx="9636369" cy="51317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5"/>
          <p:cNvSpPr/>
          <p:nvPr/>
        </p:nvSpPr>
        <p:spPr>
          <a:xfrm>
            <a:off x="119312" y="6464218"/>
            <a:ext cx="11953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Слайд: О. Шипитько. Курс "</a:t>
            </a:r>
            <a:r>
              <a:rPr b="0" i="0" lang="ru-RU" sz="12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Моделирование колесных роботов</a:t>
            </a: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 кафедры когнитивных технологий Московского физико-технического института (МФТИ), 2020</a:t>
            </a:r>
            <a:endParaRPr b="0" i="0" sz="1200" u="none" cap="none" strike="noStrike">
              <a:solidFill>
                <a:srgbClr val="72AB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45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9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роботов</a:t>
            </a:r>
            <a:endParaRPr/>
          </a:p>
        </p:txBody>
      </p:sp>
      <p:sp>
        <p:nvSpPr>
          <p:cNvPr id="210" name="Google Shape;210;p49"/>
          <p:cNvSpPr/>
          <p:nvPr/>
        </p:nvSpPr>
        <p:spPr>
          <a:xfrm>
            <a:off x="658935" y="557132"/>
            <a:ext cx="98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Колесные - б</a:t>
            </a: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еспилотны</a:t>
            </a:r>
            <a:r>
              <a:rPr b="1" lang="ru-RU"/>
              <a:t>й транспорт, логистика и т.д.</a:t>
            </a:r>
            <a:endParaRPr/>
          </a:p>
        </p:txBody>
      </p:sp>
      <p:sp>
        <p:nvSpPr>
          <p:cNvPr id="211" name="Google Shape;211;p49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pic>
        <p:nvPicPr>
          <p:cNvPr id="212" name="Google Shape;212;p49" title="Снимок экрана от 2025-09-01 11-37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00" y="1056549"/>
            <a:ext cx="5140001" cy="28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9" title="Снимок экрана от 2025-09-01 11-35-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819" y="1021925"/>
            <a:ext cx="5506658" cy="29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9" title="gaze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4045000"/>
            <a:ext cx="3955510" cy="2218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9" title="delivery_rob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235" y="4093025"/>
            <a:ext cx="1972845" cy="2218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84475" y="4135875"/>
            <a:ext cx="3229138" cy="22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4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роботов</a:t>
            </a:r>
            <a:endParaRPr/>
          </a:p>
        </p:txBody>
      </p:sp>
      <p:pic>
        <p:nvPicPr>
          <p:cNvPr id="223" name="Google Shape;22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3880" y="489914"/>
            <a:ext cx="2871260" cy="2166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i.drom.ru/comments/109/108024.jpg" id="224" name="Google Shape;22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4320" y="461665"/>
            <a:ext cx="3744416" cy="2506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4"/>
          <p:cNvPicPr preferRelativeResize="0"/>
          <p:nvPr/>
        </p:nvPicPr>
        <p:blipFill rotWithShape="1">
          <a:blip r:embed="rId5">
            <a:alphaModFix/>
          </a:blip>
          <a:srcRect b="19444" l="10472" r="17173" t="0"/>
          <a:stretch/>
        </p:blipFill>
        <p:spPr>
          <a:xfrm>
            <a:off x="6454160" y="3227446"/>
            <a:ext cx="3312368" cy="2187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4"/>
          <p:cNvPicPr preferRelativeResize="0"/>
          <p:nvPr/>
        </p:nvPicPr>
        <p:blipFill rotWithShape="1">
          <a:blip r:embed="rId6">
            <a:alphaModFix/>
          </a:blip>
          <a:srcRect b="0" l="24935" r="24416" t="0"/>
          <a:stretch/>
        </p:blipFill>
        <p:spPr>
          <a:xfrm>
            <a:off x="9766528" y="3343969"/>
            <a:ext cx="2366269" cy="3537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rb.ru/upload/users/picture/46164/img_3346_2010-03-11_14.08.59.jpg" id="227" name="Google Shape;227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4712" y="3159303"/>
            <a:ext cx="2692383" cy="2019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images.industrial.omron.ru/IAB/Products/Motion%20and%20Drives/SCARA%20Robots/images/SCARA_2_Tracking190x232.jpg" id="228" name="Google Shape;228;p54"/>
          <p:cNvPicPr preferRelativeResize="0"/>
          <p:nvPr/>
        </p:nvPicPr>
        <p:blipFill rotWithShape="1">
          <a:blip r:embed="rId8">
            <a:alphaModFix/>
          </a:blip>
          <a:srcRect b="10535" l="0" r="0" t="0"/>
          <a:stretch/>
        </p:blipFill>
        <p:spPr>
          <a:xfrm>
            <a:off x="7246248" y="5274215"/>
            <a:ext cx="2492193" cy="160769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4"/>
          <p:cNvSpPr/>
          <p:nvPr/>
        </p:nvSpPr>
        <p:spPr>
          <a:xfrm>
            <a:off x="4437936" y="2713322"/>
            <a:ext cx="22220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Покрасочный робот</a:t>
            </a:r>
            <a:endParaRPr/>
          </a:p>
        </p:txBody>
      </p:sp>
      <p:sp>
        <p:nvSpPr>
          <p:cNvPr id="230" name="Google Shape;230;p54"/>
          <p:cNvSpPr/>
          <p:nvPr/>
        </p:nvSpPr>
        <p:spPr>
          <a:xfrm>
            <a:off x="8234376" y="2974637"/>
            <a:ext cx="34369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Роботизированная линия сборки</a:t>
            </a:r>
            <a:endParaRPr/>
          </a:p>
        </p:txBody>
      </p:sp>
      <p:sp>
        <p:nvSpPr>
          <p:cNvPr id="231" name="Google Shape;231;p54"/>
          <p:cNvSpPr/>
          <p:nvPr/>
        </p:nvSpPr>
        <p:spPr>
          <a:xfrm>
            <a:off x="3753782" y="5180207"/>
            <a:ext cx="1914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Сварочный робот</a:t>
            </a:r>
            <a:endParaRPr/>
          </a:p>
        </p:txBody>
      </p:sp>
      <p:sp>
        <p:nvSpPr>
          <p:cNvPr id="232" name="Google Shape;232;p54"/>
          <p:cNvSpPr/>
          <p:nvPr/>
        </p:nvSpPr>
        <p:spPr>
          <a:xfrm>
            <a:off x="5106922" y="5703067"/>
            <a:ext cx="23553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Роботы для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погрузки-разгрузки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 паллетирования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4"/>
          <p:cNvSpPr txBox="1"/>
          <p:nvPr/>
        </p:nvSpPr>
        <p:spPr>
          <a:xfrm>
            <a:off x="223696" y="1790176"/>
            <a:ext cx="3015900" cy="2738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Выполняемые функции: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Покраска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Сборка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Сварка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Погрузка/разгрузка (паллетирование)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Точная обработка деталей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Хирургические операции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4"/>
          <p:cNvSpPr txBox="1"/>
          <p:nvPr/>
        </p:nvSpPr>
        <p:spPr>
          <a:xfrm>
            <a:off x="159175" y="4818225"/>
            <a:ext cx="3144900" cy="2019300"/>
          </a:xfrm>
          <a:prstGeom prst="rect">
            <a:avLst/>
          </a:prstGeom>
          <a:solidFill>
            <a:srgbClr val="FAF9F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Отрасли промышленности: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Автомобилестроение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Производство электроники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Машиностроение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Металлообработка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Пищевая промышленность</a:t>
            </a:r>
            <a:endParaRPr sz="1500"/>
          </a:p>
          <a:p>
            <a:pPr indent="-3111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ru-RU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endParaRPr sz="1500"/>
          </a:p>
        </p:txBody>
      </p:sp>
      <p:sp>
        <p:nvSpPr>
          <p:cNvPr id="235" name="Google Shape;235;p54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236" name="Google Shape;236;p54"/>
          <p:cNvSpPr txBox="1"/>
          <p:nvPr/>
        </p:nvSpPr>
        <p:spPr>
          <a:xfrm>
            <a:off x="403400" y="739600"/>
            <a:ext cx="28362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Стационарные – промышленность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6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мобильных роботов</a:t>
            </a:r>
            <a:endParaRPr/>
          </a:p>
        </p:txBody>
      </p:sp>
      <p:pic>
        <p:nvPicPr>
          <p:cNvPr id="243" name="Google Shape;243;p56"/>
          <p:cNvPicPr preferRelativeResize="0"/>
          <p:nvPr/>
        </p:nvPicPr>
        <p:blipFill rotWithShape="1">
          <a:blip r:embed="rId3">
            <a:alphaModFix/>
          </a:blip>
          <a:srcRect b="15182" l="11804" r="11933" t="21037"/>
          <a:stretch/>
        </p:blipFill>
        <p:spPr>
          <a:xfrm>
            <a:off x="403239" y="869741"/>
            <a:ext cx="11385521" cy="491516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6"/>
          <p:cNvSpPr/>
          <p:nvPr/>
        </p:nvSpPr>
        <p:spPr>
          <a:xfrm>
            <a:off x="422814" y="685075"/>
            <a:ext cx="1976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Аэрокосмические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6"/>
          <p:cNvSpPr/>
          <p:nvPr/>
        </p:nvSpPr>
        <p:spPr>
          <a:xfrm>
            <a:off x="119312" y="6464218"/>
            <a:ext cx="11953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Слайд: О. Шипитько. Курс "</a:t>
            </a:r>
            <a:r>
              <a:rPr b="0" i="0" lang="ru-RU" sz="12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Моделирование колесных роботов</a:t>
            </a: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 кафедры когнитивных технологий Московского физико-технического института (МФТИ), 2020</a:t>
            </a:r>
            <a:endParaRPr b="0" i="0" sz="1200" u="none" cap="none" strike="noStrike">
              <a:solidFill>
                <a:srgbClr val="72AB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56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7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мобильных роботов</a:t>
            </a:r>
            <a:endParaRPr/>
          </a:p>
        </p:txBody>
      </p:sp>
      <p:sp>
        <p:nvSpPr>
          <p:cNvPr id="253" name="Google Shape;253;p57"/>
          <p:cNvSpPr/>
          <p:nvPr/>
        </p:nvSpPr>
        <p:spPr>
          <a:xfrm>
            <a:off x="422814" y="685075"/>
            <a:ext cx="117691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устранения природных и техногенных катаклизмов 3D (dirty, dangerous and demeaning) </a:t>
            </a:r>
            <a:b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112407"/>
            <a:ext cx="5715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0309" y="1209686"/>
            <a:ext cx="383857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2582" y="3295661"/>
            <a:ext cx="5219824" cy="281000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7"/>
          <p:cNvSpPr/>
          <p:nvPr/>
        </p:nvSpPr>
        <p:spPr>
          <a:xfrm>
            <a:off x="119312" y="6464218"/>
            <a:ext cx="11953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Слайд: О. Шипитько. Курс "</a:t>
            </a:r>
            <a:r>
              <a:rPr b="0" i="0" lang="ru-RU" sz="12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Моделирование колесных роботов</a:t>
            </a:r>
            <a:r>
              <a:rPr b="0" i="0" lang="ru-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 кафедры когнитивных технологий Московского физико-технического института (МФТИ), 2020</a:t>
            </a:r>
            <a:endParaRPr b="0" i="0" sz="1200" u="none" cap="none" strike="noStrike">
              <a:solidFill>
                <a:srgbClr val="72AB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57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8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Сферы применения мобильных роботов</a:t>
            </a:r>
            <a:endParaRPr/>
          </a:p>
        </p:txBody>
      </p:sp>
      <p:sp>
        <p:nvSpPr>
          <p:cNvPr id="265" name="Google Shape;265;p58"/>
          <p:cNvSpPr/>
          <p:nvPr/>
        </p:nvSpPr>
        <p:spPr>
          <a:xfrm>
            <a:off x="973407" y="604369"/>
            <a:ext cx="103041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Военные</a:t>
            </a:r>
            <a:endParaRPr/>
          </a:p>
        </p:txBody>
      </p:sp>
      <p:pic>
        <p:nvPicPr>
          <p:cNvPr id="266" name="Google Shape;26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407" y="1054407"/>
            <a:ext cx="45720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800289"/>
            <a:ext cx="4706215" cy="264489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8"/>
          <p:cNvSpPr txBox="1"/>
          <p:nvPr>
            <p:ph idx="12" type="sldNum"/>
          </p:nvPr>
        </p:nvSpPr>
        <p:spPr>
          <a:xfrm>
            <a:off x="10460182" y="48269"/>
            <a:ext cx="1625138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pic>
        <p:nvPicPr>
          <p:cNvPr id="269" name="Google Shape;269;p58" title="дрон.png"/>
          <p:cNvPicPr preferRelativeResize="0"/>
          <p:nvPr/>
        </p:nvPicPr>
        <p:blipFill rotWithShape="1">
          <a:blip r:embed="rId5">
            <a:alphaModFix/>
          </a:blip>
          <a:srcRect b="11590" l="0" r="0" t="0"/>
          <a:stretch/>
        </p:blipFill>
        <p:spPr>
          <a:xfrm>
            <a:off x="7197975" y="4043725"/>
            <a:ext cx="3058074" cy="198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8" title="собака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1675" y="3802575"/>
            <a:ext cx="4066375" cy="27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a1cc21658_0_254"/>
          <p:cNvSpPr txBox="1"/>
          <p:nvPr>
            <p:ph type="ctrTitle"/>
          </p:nvPr>
        </p:nvSpPr>
        <p:spPr>
          <a:xfrm>
            <a:off x="0" y="2556000"/>
            <a:ext cx="12192000" cy="8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ru-RU" sz="2800">
                <a:solidFill>
                  <a:schemeClr val="lt1"/>
                </a:solidFill>
              </a:rPr>
              <a:t>Robotic Operation System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3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3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282" name="Google Shape;282;p63"/>
          <p:cNvSpPr txBox="1"/>
          <p:nvPr/>
        </p:nvSpPr>
        <p:spPr>
          <a:xfrm>
            <a:off x="101885" y="556519"/>
            <a:ext cx="12090115" cy="6161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Зачем роботам ОС: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Абстракция от аппаратного обеспечения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Унификация передачи данных между подсистемами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Разработчики приложений могут писать универсальное ПО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Модулярность за счет унифицированной парадигмы обмена данными между подпрограммами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Инструменты разработки/отладки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Сообщество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Robotic operation system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—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свободно распространяемая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мета-ОС для роботов. Обеспечивает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стандартные службы ОС: 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аппаратную абстракцию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низкоуровневое управление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устройствами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готовые реализации часто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используемых функций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передачу информации между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процессами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управление пакетами</a:t>
            </a:r>
            <a:endParaRPr/>
          </a:p>
        </p:txBody>
      </p:sp>
      <p:pic>
        <p:nvPicPr>
          <p:cNvPr id="283" name="Google Shape;28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2400" y="2682974"/>
            <a:ext cx="7599600" cy="417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4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4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290" name="Google Shape;290;p64"/>
          <p:cNvSpPr txBox="1"/>
          <p:nvPr/>
        </p:nvSpPr>
        <p:spPr>
          <a:xfrm>
            <a:off x="101885" y="556519"/>
            <a:ext cx="12090115" cy="6161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Мета-операционная система</a:t>
            </a:r>
            <a:endParaRPr/>
          </a:p>
        </p:txBody>
      </p:sp>
      <p:sp>
        <p:nvSpPr>
          <p:cNvPr id="291" name="Google Shape;291;p64"/>
          <p:cNvSpPr/>
          <p:nvPr/>
        </p:nvSpPr>
        <p:spPr>
          <a:xfrm>
            <a:off x="1548406" y="2740771"/>
            <a:ext cx="2622300" cy="49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ROS</a:t>
            </a:r>
            <a:endParaRPr b="0" i="0" sz="2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92" name="Google Shape;292;p64"/>
          <p:cNvSpPr/>
          <p:nvPr/>
        </p:nvSpPr>
        <p:spPr>
          <a:xfrm>
            <a:off x="1548406" y="3632096"/>
            <a:ext cx="2622300" cy="546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OS</a:t>
            </a:r>
            <a:endParaRPr b="0" i="0" sz="18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93" name="Google Shape;293;p64"/>
          <p:cNvSpPr/>
          <p:nvPr/>
        </p:nvSpPr>
        <p:spPr>
          <a:xfrm>
            <a:off x="1548406" y="4570821"/>
            <a:ext cx="2622300" cy="5463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Аппаратный уровень</a:t>
            </a:r>
            <a:endParaRPr b="0" i="0" sz="18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94" name="Google Shape;294;p64"/>
          <p:cNvSpPr/>
          <p:nvPr/>
        </p:nvSpPr>
        <p:spPr>
          <a:xfrm>
            <a:off x="1548406" y="1802046"/>
            <a:ext cx="2622300" cy="5463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Пользовательское приложение</a:t>
            </a:r>
            <a:endParaRPr b="0" i="0" sz="18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295" name="Google Shape;29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7206" y="1215894"/>
            <a:ext cx="901800" cy="135267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4"/>
          <p:cNvSpPr txBox="1"/>
          <p:nvPr/>
        </p:nvSpPr>
        <p:spPr>
          <a:xfrm>
            <a:off x="7369781" y="1321321"/>
            <a:ext cx="1493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Мобильное, Web, Desktop приложение</a:t>
            </a:r>
            <a:endParaRPr b="0" i="0" sz="11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97" name="Google Shape;297;p64"/>
          <p:cNvSpPr txBox="1"/>
          <p:nvPr/>
        </p:nvSpPr>
        <p:spPr>
          <a:xfrm>
            <a:off x="6465606" y="2247571"/>
            <a:ext cx="1324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Функции и сервисы предоставляемые роботом</a:t>
            </a:r>
            <a:endParaRPr b="0" i="0" sz="11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298" name="Google Shape;298;p64"/>
          <p:cNvCxnSpPr>
            <a:stCxn id="294" idx="3"/>
            <a:endCxn id="296" idx="1"/>
          </p:cNvCxnSpPr>
          <p:nvPr/>
        </p:nvCxnSpPr>
        <p:spPr>
          <a:xfrm flipH="1" rot="10800000">
            <a:off x="4170706" y="1454496"/>
            <a:ext cx="3199200" cy="6207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" name="Google Shape;299;p64"/>
          <p:cNvCxnSpPr>
            <a:stCxn id="294" idx="3"/>
            <a:endCxn id="297" idx="1"/>
          </p:cNvCxnSpPr>
          <p:nvPr/>
        </p:nvCxnSpPr>
        <p:spPr>
          <a:xfrm>
            <a:off x="4170706" y="2075196"/>
            <a:ext cx="2295000" cy="3054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" name="Google Shape;300;p64"/>
          <p:cNvCxnSpPr/>
          <p:nvPr/>
        </p:nvCxnSpPr>
        <p:spPr>
          <a:xfrm flipH="1">
            <a:off x="2846456" y="2348346"/>
            <a:ext cx="900" cy="40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64"/>
          <p:cNvCxnSpPr/>
          <p:nvPr/>
        </p:nvCxnSpPr>
        <p:spPr>
          <a:xfrm flipH="1">
            <a:off x="2846456" y="3239659"/>
            <a:ext cx="900" cy="40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2" name="Google Shape;302;p64"/>
          <p:cNvCxnSpPr/>
          <p:nvPr/>
        </p:nvCxnSpPr>
        <p:spPr>
          <a:xfrm flipH="1">
            <a:off x="2846456" y="4178384"/>
            <a:ext cx="900" cy="40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3" name="Google Shape;303;p64"/>
          <p:cNvSpPr txBox="1"/>
          <p:nvPr/>
        </p:nvSpPr>
        <p:spPr>
          <a:xfrm>
            <a:off x="6816281" y="4400196"/>
            <a:ext cx="825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Сенсоры</a:t>
            </a:r>
            <a:endParaRPr b="0" i="0" sz="11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04" name="Google Shape;304;p64"/>
          <p:cNvSpPr txBox="1"/>
          <p:nvPr/>
        </p:nvSpPr>
        <p:spPr>
          <a:xfrm>
            <a:off x="6816281" y="4749021"/>
            <a:ext cx="901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Актуаторы</a:t>
            </a:r>
            <a:endParaRPr b="0" i="0" sz="11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05" name="Google Shape;305;p64"/>
          <p:cNvSpPr txBox="1"/>
          <p:nvPr/>
        </p:nvSpPr>
        <p:spPr>
          <a:xfrm>
            <a:off x="6546581" y="5097846"/>
            <a:ext cx="11715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Робо-платформы</a:t>
            </a:r>
            <a:endParaRPr b="0" i="0" sz="11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306" name="Google Shape;306;p64"/>
          <p:cNvCxnSpPr>
            <a:stCxn id="293" idx="3"/>
            <a:endCxn id="303" idx="1"/>
          </p:cNvCxnSpPr>
          <p:nvPr/>
        </p:nvCxnSpPr>
        <p:spPr>
          <a:xfrm flipH="1" rot="10800000">
            <a:off x="4170706" y="4533171"/>
            <a:ext cx="2645700" cy="3108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p64"/>
          <p:cNvCxnSpPr>
            <a:stCxn id="293" idx="3"/>
            <a:endCxn id="304" idx="1"/>
          </p:cNvCxnSpPr>
          <p:nvPr/>
        </p:nvCxnSpPr>
        <p:spPr>
          <a:xfrm>
            <a:off x="4170706" y="4843971"/>
            <a:ext cx="2645700" cy="381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64"/>
          <p:cNvCxnSpPr>
            <a:stCxn id="293" idx="3"/>
            <a:endCxn id="305" idx="1"/>
          </p:cNvCxnSpPr>
          <p:nvPr/>
        </p:nvCxnSpPr>
        <p:spPr>
          <a:xfrm>
            <a:off x="4170706" y="4843971"/>
            <a:ext cx="2376000" cy="3870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09" name="Google Shape;30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9131" y="1784808"/>
            <a:ext cx="1171500" cy="96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64"/>
          <p:cNvGrpSpPr/>
          <p:nvPr/>
        </p:nvGrpSpPr>
        <p:grpSpPr>
          <a:xfrm>
            <a:off x="7329056" y="3881671"/>
            <a:ext cx="2518600" cy="1253675"/>
            <a:chOff x="6223025" y="3793400"/>
            <a:chExt cx="2518600" cy="1253675"/>
          </a:xfrm>
        </p:grpSpPr>
        <p:pic>
          <p:nvPicPr>
            <p:cNvPr id="311" name="Google Shape;311;p64"/>
            <p:cNvPicPr preferRelativeResize="0"/>
            <p:nvPr/>
          </p:nvPicPr>
          <p:blipFill rotWithShape="1">
            <a:blip r:embed="rId5">
              <a:alphaModFix/>
            </a:blip>
            <a:srcRect b="0" l="11823" r="18089" t="4734"/>
            <a:stretch/>
          </p:blipFill>
          <p:spPr>
            <a:xfrm>
              <a:off x="7722450" y="3793400"/>
              <a:ext cx="1019175" cy="1253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64"/>
            <p:cNvPicPr preferRelativeResize="0"/>
            <p:nvPr/>
          </p:nvPicPr>
          <p:blipFill rotWithShape="1">
            <a:blip r:embed="rId6">
              <a:alphaModFix/>
            </a:blip>
            <a:srcRect b="13304" l="3878" r="4655" t="30249"/>
            <a:stretch/>
          </p:blipFill>
          <p:spPr>
            <a:xfrm>
              <a:off x="6223025" y="3793400"/>
              <a:ext cx="1514901" cy="48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66550" y="4276175"/>
              <a:ext cx="990376" cy="7708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4" name="Google Shape;314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50256" y="2966196"/>
            <a:ext cx="429051" cy="42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7406" y="3395250"/>
            <a:ext cx="591876" cy="588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14756" y="2831049"/>
            <a:ext cx="429051" cy="42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5731" y="3869231"/>
            <a:ext cx="429051" cy="42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64"/>
          <p:cNvCxnSpPr>
            <a:stCxn id="292" idx="3"/>
            <a:endCxn id="316" idx="1"/>
          </p:cNvCxnSpPr>
          <p:nvPr/>
        </p:nvCxnSpPr>
        <p:spPr>
          <a:xfrm flipH="1" rot="10800000">
            <a:off x="4170706" y="3045446"/>
            <a:ext cx="744000" cy="8598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64"/>
          <p:cNvCxnSpPr>
            <a:stCxn id="292" idx="3"/>
            <a:endCxn id="317" idx="1"/>
          </p:cNvCxnSpPr>
          <p:nvPr/>
        </p:nvCxnSpPr>
        <p:spPr>
          <a:xfrm>
            <a:off x="4170706" y="3905246"/>
            <a:ext cx="575100" cy="1785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64"/>
          <p:cNvCxnSpPr>
            <a:stCxn id="292" idx="3"/>
            <a:endCxn id="315" idx="1"/>
          </p:cNvCxnSpPr>
          <p:nvPr/>
        </p:nvCxnSpPr>
        <p:spPr>
          <a:xfrm flipH="1" rot="10800000">
            <a:off x="4170706" y="3689846"/>
            <a:ext cx="1426800" cy="2154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64"/>
          <p:cNvCxnSpPr>
            <a:stCxn id="292" idx="3"/>
            <a:endCxn id="314" idx="1"/>
          </p:cNvCxnSpPr>
          <p:nvPr/>
        </p:nvCxnSpPr>
        <p:spPr>
          <a:xfrm flipH="1" rot="10800000">
            <a:off x="4170706" y="3180746"/>
            <a:ext cx="2079600" cy="724500"/>
          </a:xfrm>
          <a:prstGeom prst="curvedConnector3">
            <a:avLst>
              <a:gd fmla="val 2794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5"/>
          <p:cNvPicPr preferRelativeResize="0"/>
          <p:nvPr/>
        </p:nvPicPr>
        <p:blipFill rotWithShape="1">
          <a:blip r:embed="rId3">
            <a:alphaModFix/>
          </a:blip>
          <a:srcRect b="49220" l="0" r="0" t="0"/>
          <a:stretch/>
        </p:blipFill>
        <p:spPr>
          <a:xfrm>
            <a:off x="3329823" y="623150"/>
            <a:ext cx="8862177" cy="187234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5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5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329" name="Google Shape;329;p65"/>
          <p:cNvSpPr txBox="1"/>
          <p:nvPr/>
        </p:nvSpPr>
        <p:spPr>
          <a:xfrm>
            <a:off x="101886" y="556519"/>
            <a:ext cx="3392752" cy="408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История: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2007 – проект Switchyard в Стэнфорде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2007-10 – разработка ROS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2010-25 – ROS 1 (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поддержка прекращена)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 2015-2017 – ROS 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Дистрибутивы ROS ставятся поверх соответствующих дистрибутивов Ubuntu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0" name="Google Shape;330;p65"/>
          <p:cNvPicPr preferRelativeResize="0"/>
          <p:nvPr/>
        </p:nvPicPr>
        <p:blipFill rotWithShape="1">
          <a:blip r:embed="rId3">
            <a:alphaModFix/>
          </a:blip>
          <a:srcRect b="0" l="0" r="54421" t="51350"/>
          <a:stretch/>
        </p:blipFill>
        <p:spPr>
          <a:xfrm>
            <a:off x="3210099" y="2495499"/>
            <a:ext cx="4039273" cy="17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65"/>
          <p:cNvPicPr preferRelativeResize="0"/>
          <p:nvPr/>
        </p:nvPicPr>
        <p:blipFill rotWithShape="1">
          <a:blip r:embed="rId3">
            <a:alphaModFix/>
          </a:blip>
          <a:srcRect b="0" l="55147" r="12801" t="54584"/>
          <a:stretch/>
        </p:blipFill>
        <p:spPr>
          <a:xfrm>
            <a:off x="3734208" y="4078101"/>
            <a:ext cx="3042656" cy="17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6435" y="2562130"/>
            <a:ext cx="2415802" cy="234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61093" y="2562130"/>
            <a:ext cx="1820152" cy="234629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65"/>
          <p:cNvSpPr txBox="1"/>
          <p:nvPr/>
        </p:nvSpPr>
        <p:spPr>
          <a:xfrm>
            <a:off x="7249372" y="4975051"/>
            <a:ext cx="18938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Ubuntu 18.04 LTS «Bionic Beaver»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05/2018-05/2023</a:t>
            </a:r>
            <a:endParaRPr/>
          </a:p>
        </p:txBody>
      </p:sp>
      <p:sp>
        <p:nvSpPr>
          <p:cNvPr id="335" name="Google Shape;335;p65"/>
          <p:cNvSpPr txBox="1"/>
          <p:nvPr/>
        </p:nvSpPr>
        <p:spPr>
          <a:xfrm>
            <a:off x="9777564" y="4975051"/>
            <a:ext cx="18938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Ubuntu 20.04 LTS «Focal Fossa»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05/2020-05/2025</a:t>
            </a:r>
            <a:endParaRPr/>
          </a:p>
        </p:txBody>
      </p:sp>
      <p:sp>
        <p:nvSpPr>
          <p:cNvPr id="336" name="Google Shape;336;p65"/>
          <p:cNvSpPr txBox="1"/>
          <p:nvPr/>
        </p:nvSpPr>
        <p:spPr>
          <a:xfrm>
            <a:off x="23650" y="6429134"/>
            <a:ext cx="117768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Также с 2012 года развивается ROS-I[ndustrial] ориентированная на интеграцию проприетарных программных модулей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6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6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343" name="Google Shape;343;p66"/>
          <p:cNvSpPr txBox="1"/>
          <p:nvPr/>
        </p:nvSpPr>
        <p:spPr>
          <a:xfrm>
            <a:off x="101886" y="556519"/>
            <a:ext cx="3392752" cy="408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История: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2007 – проект Switchyard в Стэнфорде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2007-10 – разработка ROS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2010-25 – ROS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 2015-2017 – ROS 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4" name="Google Shape;344;p66"/>
          <p:cNvPicPr preferRelativeResize="0"/>
          <p:nvPr/>
        </p:nvPicPr>
        <p:blipFill rotWithShape="1">
          <a:blip r:embed="rId3">
            <a:alphaModFix/>
          </a:blip>
          <a:srcRect b="12261" l="18533" r="45455" t="26876"/>
          <a:stretch/>
        </p:blipFill>
        <p:spPr>
          <a:xfrm>
            <a:off x="6271728" y="1432948"/>
            <a:ext cx="5730150" cy="524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6"/>
          <p:cNvPicPr preferRelativeResize="0"/>
          <p:nvPr/>
        </p:nvPicPr>
        <p:blipFill rotWithShape="1">
          <a:blip r:embed="rId4">
            <a:alphaModFix/>
          </a:blip>
          <a:srcRect b="14907" l="18483" r="45391" t="36177"/>
          <a:stretch/>
        </p:blipFill>
        <p:spPr>
          <a:xfrm>
            <a:off x="228636" y="2743200"/>
            <a:ext cx="5365821" cy="393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7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7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352" name="Google Shape;352;p67"/>
          <p:cNvSpPr txBox="1"/>
          <p:nvPr/>
        </p:nvSpPr>
        <p:spPr>
          <a:xfrm>
            <a:off x="101886" y="556518"/>
            <a:ext cx="5185338" cy="604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 1 vs. ROS 2: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Желание избавиться от “legacy design choices”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Новые задачи, которые не стояли перед разработчиками ROS 1: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Группы роботов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Встраиваемые платформы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Системы реального времени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Проблемы передачи данных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Использование в коммерческих продуктах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Защита данных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Появление новых технологий, учет старых ошибок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Изначально предназначена для установки поверх разных ОС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(Linux, Windows, MacOS)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В целом индустрия до сих пор относится к ROS 2 настороженно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p67"/>
          <p:cNvSpPr txBox="1"/>
          <p:nvPr/>
        </p:nvSpPr>
        <p:spPr>
          <a:xfrm>
            <a:off x="5532456" y="578882"/>
            <a:ext cx="6046926" cy="928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http://wiki.ros.org/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документация к ROS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http://docs.ros.org/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документация к ROS 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4" name="Google Shape;354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4962" y="1507133"/>
            <a:ext cx="7457038" cy="230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3174" y="3833873"/>
            <a:ext cx="7468826" cy="294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8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8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362" name="Google Shape;362;p68"/>
          <p:cNvSpPr txBox="1"/>
          <p:nvPr/>
        </p:nvSpPr>
        <p:spPr>
          <a:xfrm>
            <a:off x="101874" y="556525"/>
            <a:ext cx="5613000" cy="6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Общие принципы взаимодействия процессов: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В системе есть отдельные процессы – </a:t>
            </a: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узлы (nodes)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Узлы передают друг другу информацию через </a:t>
            </a: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топики (topics)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Топики работают по принципу </a:t>
            </a: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издатель-подписчик (publisher-subscriber)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Сообщения (messages)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публикуемые в топиках имеют строго заданную структуру – </a:t>
            </a: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тип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(есть много стандартных типов сообщений, можно писать кастомные)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Альтернативные способы обмена данными между узлами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Service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прямой обмен между узлами по принципу клиент-сервер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Action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выполнение некоторого протокола обмена данными между узлами (в ходе выполнения некоторого действия роботом)</a:t>
            </a:r>
            <a:endParaRPr/>
          </a:p>
        </p:txBody>
      </p:sp>
      <p:sp>
        <p:nvSpPr>
          <p:cNvPr id="363" name="Google Shape;363;p68"/>
          <p:cNvSpPr/>
          <p:nvPr/>
        </p:nvSpPr>
        <p:spPr>
          <a:xfrm>
            <a:off x="5874189" y="2252928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8"/>
          <p:cNvSpPr/>
          <p:nvPr/>
        </p:nvSpPr>
        <p:spPr>
          <a:xfrm>
            <a:off x="5874189" y="4876924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8"/>
          <p:cNvSpPr/>
          <p:nvPr/>
        </p:nvSpPr>
        <p:spPr>
          <a:xfrm>
            <a:off x="8356349" y="869257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8"/>
          <p:cNvSpPr/>
          <p:nvPr/>
        </p:nvSpPr>
        <p:spPr>
          <a:xfrm>
            <a:off x="8356349" y="2714655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8"/>
          <p:cNvSpPr/>
          <p:nvPr/>
        </p:nvSpPr>
        <p:spPr>
          <a:xfrm>
            <a:off x="8360877" y="4560053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68"/>
          <p:cNvCxnSpPr>
            <a:stCxn id="363" idx="7"/>
          </p:cNvCxnSpPr>
          <p:nvPr/>
        </p:nvCxnSpPr>
        <p:spPr>
          <a:xfrm flipH="1" rot="10800000">
            <a:off x="6824686" y="1493865"/>
            <a:ext cx="1531800" cy="8943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" name="Google Shape;369;p68"/>
          <p:cNvCxnSpPr>
            <a:stCxn id="363" idx="5"/>
          </p:cNvCxnSpPr>
          <p:nvPr/>
        </p:nvCxnSpPr>
        <p:spPr>
          <a:xfrm>
            <a:off x="6824686" y="3041145"/>
            <a:ext cx="1531800" cy="4224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" name="Google Shape;370;p68"/>
          <p:cNvCxnSpPr>
            <a:stCxn id="364" idx="6"/>
            <a:endCxn id="367" idx="1"/>
          </p:cNvCxnSpPr>
          <p:nvPr/>
        </p:nvCxnSpPr>
        <p:spPr>
          <a:xfrm>
            <a:off x="6987765" y="5338651"/>
            <a:ext cx="1373100" cy="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68"/>
          <p:cNvCxnSpPr>
            <a:endCxn id="372" idx="3"/>
          </p:cNvCxnSpPr>
          <p:nvPr/>
        </p:nvCxnSpPr>
        <p:spPr>
          <a:xfrm flipH="1" rot="10800000">
            <a:off x="8403834" y="3839132"/>
            <a:ext cx="2066100" cy="15381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68"/>
          <p:cNvCxnSpPr>
            <a:stCxn id="366" idx="3"/>
          </p:cNvCxnSpPr>
          <p:nvPr/>
        </p:nvCxnSpPr>
        <p:spPr>
          <a:xfrm>
            <a:off x="8446883" y="3493254"/>
            <a:ext cx="1860000" cy="21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p68"/>
          <p:cNvCxnSpPr/>
          <p:nvPr/>
        </p:nvCxnSpPr>
        <p:spPr>
          <a:xfrm>
            <a:off x="8454801" y="1507041"/>
            <a:ext cx="1852054" cy="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" name="Google Shape;375;p68"/>
          <p:cNvSpPr/>
          <p:nvPr/>
        </p:nvSpPr>
        <p:spPr>
          <a:xfrm>
            <a:off x="10314773" y="1061445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8"/>
          <p:cNvSpPr/>
          <p:nvPr/>
        </p:nvSpPr>
        <p:spPr>
          <a:xfrm>
            <a:off x="10306855" y="3050915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8"/>
          <p:cNvSpPr txBox="1"/>
          <p:nvPr/>
        </p:nvSpPr>
        <p:spPr>
          <a:xfrm>
            <a:off x="8425780" y="799687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8"/>
          <p:cNvSpPr txBox="1"/>
          <p:nvPr/>
        </p:nvSpPr>
        <p:spPr>
          <a:xfrm>
            <a:off x="8436332" y="2634472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8"/>
          <p:cNvSpPr txBox="1"/>
          <p:nvPr/>
        </p:nvSpPr>
        <p:spPr>
          <a:xfrm>
            <a:off x="8425781" y="4467425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9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Robotic operation system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9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385" name="Google Shape;385;p69"/>
          <p:cNvSpPr txBox="1"/>
          <p:nvPr/>
        </p:nvSpPr>
        <p:spPr>
          <a:xfrm>
            <a:off x="101885" y="556518"/>
            <a:ext cx="5729400" cy="6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Общие принципы взаимодействия процессов: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ROS-master (только для ROS 1)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главный узел системы, обеспечивает регистрацию топиков и сервисов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В ROS-2 мастера нет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ноды взаимодействуют в режиме peer-to-peer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Различные узлы могут быть физически расположены на разных устройствах, т.е. операционная среда становится распределенной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На подчиненных устройствах надо прописать адрес устройства мастера (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 1) или указать ROS_DOMAIN_ID (ROS 2)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Rosbag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запись содержимого топиков </a:t>
            </a:r>
            <a:b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за промежуток времени. Росбэги можно воспроизводить, отрабатывая алгоритмы на их данных.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Пакет (package)</a:t>
            </a: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единица организации ПО в ROS, содержит программный код нодов, описание сообщений топиков, конфигурационные и другие файлы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6" name="Google Shape;386;p69"/>
          <p:cNvSpPr/>
          <p:nvPr/>
        </p:nvSpPr>
        <p:spPr>
          <a:xfrm>
            <a:off x="5874189" y="2252928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9"/>
          <p:cNvSpPr/>
          <p:nvPr/>
        </p:nvSpPr>
        <p:spPr>
          <a:xfrm>
            <a:off x="5874189" y="4876924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9"/>
          <p:cNvSpPr/>
          <p:nvPr/>
        </p:nvSpPr>
        <p:spPr>
          <a:xfrm>
            <a:off x="8356349" y="869257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9"/>
          <p:cNvSpPr/>
          <p:nvPr/>
        </p:nvSpPr>
        <p:spPr>
          <a:xfrm>
            <a:off x="8356349" y="2714655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9"/>
          <p:cNvSpPr/>
          <p:nvPr/>
        </p:nvSpPr>
        <p:spPr>
          <a:xfrm>
            <a:off x="8360877" y="4560053"/>
            <a:ext cx="90534" cy="155719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69"/>
          <p:cNvCxnSpPr>
            <a:stCxn id="386" idx="7"/>
          </p:cNvCxnSpPr>
          <p:nvPr/>
        </p:nvCxnSpPr>
        <p:spPr>
          <a:xfrm flipH="1" rot="10800000">
            <a:off x="6824686" y="1493865"/>
            <a:ext cx="1531800" cy="8943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69"/>
          <p:cNvCxnSpPr>
            <a:stCxn id="386" idx="5"/>
          </p:cNvCxnSpPr>
          <p:nvPr/>
        </p:nvCxnSpPr>
        <p:spPr>
          <a:xfrm>
            <a:off x="6824686" y="3041145"/>
            <a:ext cx="1531800" cy="4224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69"/>
          <p:cNvCxnSpPr>
            <a:stCxn id="387" idx="6"/>
            <a:endCxn id="390" idx="1"/>
          </p:cNvCxnSpPr>
          <p:nvPr/>
        </p:nvCxnSpPr>
        <p:spPr>
          <a:xfrm>
            <a:off x="6987765" y="5338651"/>
            <a:ext cx="1373100" cy="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69"/>
          <p:cNvCxnSpPr>
            <a:endCxn id="395" idx="3"/>
          </p:cNvCxnSpPr>
          <p:nvPr/>
        </p:nvCxnSpPr>
        <p:spPr>
          <a:xfrm flipH="1" rot="10800000">
            <a:off x="8403834" y="3839132"/>
            <a:ext cx="2066100" cy="15381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6" name="Google Shape;396;p69"/>
          <p:cNvCxnSpPr>
            <a:stCxn id="389" idx="3"/>
          </p:cNvCxnSpPr>
          <p:nvPr/>
        </p:nvCxnSpPr>
        <p:spPr>
          <a:xfrm>
            <a:off x="8446883" y="3493254"/>
            <a:ext cx="1860000" cy="210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7" name="Google Shape;397;p69"/>
          <p:cNvCxnSpPr/>
          <p:nvPr/>
        </p:nvCxnSpPr>
        <p:spPr>
          <a:xfrm>
            <a:off x="8454801" y="1507041"/>
            <a:ext cx="1852054" cy="0"/>
          </a:xfrm>
          <a:prstGeom prst="straightConnector1">
            <a:avLst/>
          </a:prstGeom>
          <a:noFill/>
          <a:ln cap="flat" cmpd="sng" w="2857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8" name="Google Shape;398;p69"/>
          <p:cNvSpPr/>
          <p:nvPr/>
        </p:nvSpPr>
        <p:spPr>
          <a:xfrm>
            <a:off x="10314773" y="1061445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9"/>
          <p:cNvSpPr/>
          <p:nvPr/>
        </p:nvSpPr>
        <p:spPr>
          <a:xfrm>
            <a:off x="10306855" y="3050915"/>
            <a:ext cx="1113576" cy="92345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 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9"/>
          <p:cNvSpPr txBox="1"/>
          <p:nvPr/>
        </p:nvSpPr>
        <p:spPr>
          <a:xfrm>
            <a:off x="8425780" y="799687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9"/>
          <p:cNvSpPr txBox="1"/>
          <p:nvPr/>
        </p:nvSpPr>
        <p:spPr>
          <a:xfrm>
            <a:off x="8436332" y="2634472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9"/>
          <p:cNvSpPr txBox="1"/>
          <p:nvPr/>
        </p:nvSpPr>
        <p:spPr>
          <a:xfrm>
            <a:off x="8425781" y="4467425"/>
            <a:ext cx="771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1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Работа через командную строку</a:t>
            </a:r>
            <a:endParaRPr/>
          </a:p>
        </p:txBody>
      </p:sp>
      <p:sp>
        <p:nvSpPr>
          <p:cNvPr id="407" name="Google Shape;407;p71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08" name="Google Shape;408;p71"/>
          <p:cNvSpPr txBox="1"/>
          <p:nvPr/>
        </p:nvSpPr>
        <p:spPr>
          <a:xfrm>
            <a:off x="101886" y="556518"/>
            <a:ext cx="5185338" cy="604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Установка ROS и отдельных пакетов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Desktop-Full Install: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ROS, rqt, rviz, robot-generic libraries, 2D/3D симуляторы и 2D/3D пакеты обработки сенсорных данных</a:t>
            </a:r>
            <a:endParaRPr/>
          </a:p>
          <a:p>
            <a:pPr indent="-317500" lvl="0" marL="13716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sudo apt install ros-&lt;имя дистрибутива&gt;-desktop-full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Desktop Install: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ROS, rqt, rviz, и robot-generic libraries</a:t>
            </a:r>
            <a:endParaRPr/>
          </a:p>
          <a:p>
            <a:pPr indent="-317500" lvl="0" marL="13716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sudo apt install ros-&lt;имя дистрибутива&gt;-desktop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ROS-Base: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ROS package, build, и communication libraries. Без графических инструментов</a:t>
            </a:r>
            <a:endParaRPr/>
          </a:p>
          <a:p>
            <a:pPr indent="-317500" lvl="0" marL="13716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sudo apt install ros-&lt;имя дистрибутива&gt;-base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Отдельный пакет</a:t>
            </a:r>
            <a:endParaRPr/>
          </a:p>
          <a:p>
            <a:pPr indent="-317500" lvl="0" marL="13716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sudo apt install ros-&lt;имя дистрибутива&gt;-&lt;имя пакета&gt;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9" name="Google Shape;409;p71"/>
          <p:cNvSpPr txBox="1"/>
          <p:nvPr/>
        </p:nvSpPr>
        <p:spPr>
          <a:xfrm>
            <a:off x="5383362" y="556517"/>
            <a:ext cx="6651322" cy="604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Source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Необходимый шаг перед </a:t>
            </a: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каждым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сеансом работы с ROS (выполняется в каждом вновь открытом терминал):</a:t>
            </a:r>
            <a:endParaRPr b="0" i="0" sz="1400" u="none" cap="none" strike="noStrike">
              <a:solidFill>
                <a:srgbClr val="9216A7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source /opt/ros/&lt;имя дистрибутива&gt;/setup.bash</a:t>
            </a:r>
            <a:endParaRPr b="0" i="0" sz="1400" u="none" cap="none" strike="noStrike">
              <a:solidFill>
                <a:srgbClr val="9216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Устанавливает переменные окружения, необходимые для работы ROS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Чтобы каждый раз не выполнять команду, ее часто добавляют в файл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~/.bashrc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для автозапуска в каждом новом терминале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(не рекомендуется для устройств, где работают не только с ROS)</a:t>
            </a:r>
            <a:endParaRPr/>
          </a:p>
          <a:p>
            <a:pPr indent="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echo "source /opt/ros/&lt;имя дистрибутива&gt;/setup.bash" &gt;&gt; ~/.bashrc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0" name="Google Shape;410;p71"/>
          <p:cNvPicPr preferRelativeResize="0"/>
          <p:nvPr/>
        </p:nvPicPr>
        <p:blipFill rotWithShape="1">
          <a:blip r:embed="rId3">
            <a:alphaModFix/>
          </a:blip>
          <a:srcRect b="63540" l="0" r="64877" t="0"/>
          <a:stretch/>
        </p:blipFill>
        <p:spPr>
          <a:xfrm>
            <a:off x="7049924" y="4375355"/>
            <a:ext cx="4257173" cy="238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2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Работа через командную строку</a:t>
            </a:r>
            <a:endParaRPr/>
          </a:p>
        </p:txBody>
      </p:sp>
      <p:sp>
        <p:nvSpPr>
          <p:cNvPr id="416" name="Google Shape;416;p72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17" name="Google Shape;417;p72"/>
          <p:cNvSpPr txBox="1"/>
          <p:nvPr/>
        </p:nvSpPr>
        <p:spPr>
          <a:xfrm>
            <a:off x="101886" y="556518"/>
            <a:ext cx="45684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Запуск ядра ROS (</a:t>
            </a: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только для ROS 1)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None/>
            </a:pPr>
            <a:r>
              <a:t/>
            </a:r>
            <a:endParaRPr b="0" i="0" sz="1400" u="none" cap="none" strike="noStrike">
              <a:solidFill>
                <a:srgbClr val="9216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5413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roscore</a:t>
            </a:r>
            <a:endParaRPr b="0" i="0" sz="1400" u="none" cap="none" strike="noStrike">
              <a:solidFill>
                <a:srgbClr val="9216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5413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Можно указать порт, на котором будет запущен мастер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2" marL="998538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roscore -p 1234</a:t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5413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Команда выполняется в терминале,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после ее запуска надо открывать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новую вкладку и работать в ней</a:t>
            </a:r>
            <a:endParaRPr/>
          </a:p>
          <a:p>
            <a:pPr indent="-317500" lvl="0" marL="5413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При работе с ROS часто приходится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оперировать параллельно многими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терминалами</a:t>
            </a:r>
            <a:endParaRPr/>
          </a:p>
          <a:p>
            <a:pPr indent="-317500" lvl="0" marL="5413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roscore запускает:</a:t>
            </a:r>
            <a:endParaRPr/>
          </a:p>
          <a:p>
            <a:pPr indent="-317500" lvl="2" marL="9985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rosmaster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17500" lvl="2" marL="9985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Parameter Server</a:t>
            </a:r>
            <a:endParaRPr/>
          </a:p>
          <a:p>
            <a:pPr indent="-317500" lvl="2" marL="99853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rosout — нод логирования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8" name="Google Shape;418;p72"/>
          <p:cNvSpPr/>
          <p:nvPr/>
        </p:nvSpPr>
        <p:spPr>
          <a:xfrm>
            <a:off x="4004583" y="4894017"/>
            <a:ext cx="19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72"/>
          <p:cNvPicPr preferRelativeResize="0"/>
          <p:nvPr/>
        </p:nvPicPr>
        <p:blipFill rotWithShape="1">
          <a:blip r:embed="rId3">
            <a:alphaModFix/>
          </a:blip>
          <a:srcRect b="27188" l="0" r="0" t="0"/>
          <a:stretch/>
        </p:blipFill>
        <p:spPr>
          <a:xfrm>
            <a:off x="7688433" y="2054942"/>
            <a:ext cx="4346251" cy="360107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72"/>
          <p:cNvSpPr txBox="1"/>
          <p:nvPr/>
        </p:nvSpPr>
        <p:spPr>
          <a:xfrm>
            <a:off x="3716576" y="1938767"/>
            <a:ext cx="3258818" cy="4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Куда осуществляется логирование текущей сессия ROS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Где запущен roslaunch server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Какие параметры доступны на </a:t>
            </a: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 Parameter Server</a:t>
            </a:r>
            <a:endParaRPr b="1" i="1" sz="1400" u="none" cap="none" strike="noStrike">
              <a:solidFill>
                <a:srgbClr val="33333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❏"/>
            </a:pP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Где запущен </a:t>
            </a: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rosmaster</a:t>
            </a:r>
            <a:endParaRPr b="1" i="1" sz="1400" u="none" cap="none" strike="noStrike">
              <a:solidFill>
                <a:srgbClr val="33333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❏"/>
            </a:pP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Запуск нода </a:t>
            </a: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rosout</a:t>
            </a:r>
            <a:endParaRPr b="1" i="0" sz="1400" u="none" cap="none" strike="noStrike">
              <a:solidFill>
                <a:srgbClr val="33333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21" name="Google Shape;421;p72"/>
          <p:cNvSpPr/>
          <p:nvPr/>
        </p:nvSpPr>
        <p:spPr>
          <a:xfrm>
            <a:off x="4004583" y="2281742"/>
            <a:ext cx="21864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2"/>
          <p:cNvSpPr/>
          <p:nvPr/>
        </p:nvSpPr>
        <p:spPr>
          <a:xfrm>
            <a:off x="4004583" y="3214592"/>
            <a:ext cx="218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2"/>
          <p:cNvSpPr/>
          <p:nvPr/>
        </p:nvSpPr>
        <p:spPr>
          <a:xfrm>
            <a:off x="4004583" y="3884942"/>
            <a:ext cx="2340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2"/>
          <p:cNvSpPr/>
          <p:nvPr/>
        </p:nvSpPr>
        <p:spPr>
          <a:xfrm>
            <a:off x="4004583" y="5809967"/>
            <a:ext cx="15228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72"/>
          <p:cNvCxnSpPr/>
          <p:nvPr/>
        </p:nvCxnSpPr>
        <p:spPr>
          <a:xfrm flipH="1" rot="10800000">
            <a:off x="4876800" y="2456267"/>
            <a:ext cx="2802000" cy="1044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72"/>
          <p:cNvCxnSpPr/>
          <p:nvPr/>
        </p:nvCxnSpPr>
        <p:spPr>
          <a:xfrm flipH="1" rot="10800000">
            <a:off x="6813755" y="3181817"/>
            <a:ext cx="871200" cy="228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72"/>
          <p:cNvCxnSpPr>
            <a:stCxn id="423" idx="3"/>
          </p:cNvCxnSpPr>
          <p:nvPr/>
        </p:nvCxnSpPr>
        <p:spPr>
          <a:xfrm flipH="1" rot="10800000">
            <a:off x="6344883" y="3982742"/>
            <a:ext cx="1352700" cy="99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72"/>
          <p:cNvCxnSpPr/>
          <p:nvPr/>
        </p:nvCxnSpPr>
        <p:spPr>
          <a:xfrm flipH="1" rot="10800000">
            <a:off x="6344882" y="4833917"/>
            <a:ext cx="1346400" cy="75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p72"/>
          <p:cNvCxnSpPr/>
          <p:nvPr/>
        </p:nvCxnSpPr>
        <p:spPr>
          <a:xfrm flipH="1" rot="10800000">
            <a:off x="6095999" y="5259418"/>
            <a:ext cx="1589100" cy="4944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3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Работа через командную строку</a:t>
            </a:r>
            <a:endParaRPr/>
          </a:p>
        </p:txBody>
      </p:sp>
      <p:sp>
        <p:nvSpPr>
          <p:cNvPr id="435" name="Google Shape;435;p73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36" name="Google Shape;436;p73"/>
          <p:cNvSpPr txBox="1"/>
          <p:nvPr/>
        </p:nvSpPr>
        <p:spPr>
          <a:xfrm>
            <a:off x="101886" y="556518"/>
            <a:ext cx="5185338" cy="604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4. Работа с топиками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Узнать список активных топиков: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</a:t>
            </a:r>
            <a:r>
              <a:rPr lang="ru-RU"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topic list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Названия топиков часто имеют формат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node_name/topic_name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или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node_name/…/topic_name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node_name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публикующий узел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Вывести в терминал сообщения, публикуемые топиком: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topic echo /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topic_name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51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Сообщения топика будут выводится в терминал, пока команда не будет прервана с помощью Ctrl+C.</a:t>
            </a:r>
            <a:endParaRPr/>
          </a:p>
          <a:p>
            <a:pPr indent="0" lvl="0" marL="265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Опубликовать сообщение в новый топик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topic pub /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topic_name</a:t>
            </a: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msg_format 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Узнать тип сообщений, издателей и подписчиков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topic info /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topic_name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p73"/>
          <p:cNvSpPr txBox="1"/>
          <p:nvPr/>
        </p:nvSpPr>
        <p:spPr>
          <a:xfrm>
            <a:off x="5383362" y="556517"/>
            <a:ext cx="6651322" cy="5303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5. Работа с узлами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Узнать список активных узлов: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node list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Запустить узел: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run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package_name node_name </a:t>
            </a:r>
            <a:endParaRPr b="0" i="1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run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package_name node_name.py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51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 узла будет выполняться в данном терминале </a:t>
            </a:r>
            <a:b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 программно заданного финала или до прерывания (Ctrl+C, закрытие терминала).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Запустить группу взаимосвязанных узлов из </a:t>
            </a:r>
            <a:r>
              <a:rPr b="1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</a:t>
            </a:r>
            <a:r>
              <a:rPr b="1" lang="ru-RU" sz="1800">
                <a:latin typeface="Times New Roman"/>
                <a:ea typeface="Times New Roman"/>
                <a:cs typeface="Times New Roman"/>
                <a:sym typeface="Times New Roman"/>
              </a:rPr>
              <a:t>ау</a:t>
            </a:r>
            <a:r>
              <a:rPr b="1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нч-файла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launch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package_name nodes_name.launch.</a:t>
            </a:r>
            <a:r>
              <a:rPr i="1" lang="ru-RU">
                <a:latin typeface="Consolas"/>
                <a:ea typeface="Consolas"/>
                <a:cs typeface="Consolas"/>
                <a:sym typeface="Consolas"/>
              </a:rPr>
              <a:t>py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51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</a:t>
            </a: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аунч-файл – это Python-скрипт, который содержит описания запусков нескольких узлов, параметры и аргументы запуска.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узлы будут выполняться в данном терминале </a:t>
            </a:r>
            <a:b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 прерывания (Ctrl+C, закрытие терминала).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4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Работа через командную строку</a:t>
            </a:r>
            <a:endParaRPr/>
          </a:p>
        </p:txBody>
      </p:sp>
      <p:sp>
        <p:nvSpPr>
          <p:cNvPr id="443" name="Google Shape;443;p74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44" name="Google Shape;444;p74"/>
          <p:cNvSpPr txBox="1"/>
          <p:nvPr/>
        </p:nvSpPr>
        <p:spPr>
          <a:xfrm>
            <a:off x="101886" y="556519"/>
            <a:ext cx="4940894" cy="358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6. Работа с rosbag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Записать датасет в файл: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bag record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/topic_1 /topic_2 …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0975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 будет записан в рабочее пространство </a:t>
            </a:r>
            <a:b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именем, соответствующем времени записи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Вывести информацию о файле: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bag info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bagname.bag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Воспроизвести сообщения в те же топики </a:t>
            </a:r>
            <a:b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теми же промежутками времени: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ros2 bag play </a:t>
            </a:r>
            <a:r>
              <a:rPr b="0" i="1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bagname1.bag bagname2.bag … 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4"/>
          <p:cNvSpPr txBox="1"/>
          <p:nvPr/>
        </p:nvSpPr>
        <p:spPr>
          <a:xfrm>
            <a:off x="5383362" y="556517"/>
            <a:ext cx="6651322" cy="2874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7. RQT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Вывести визуализацию взаимосвязи узлов и топиков: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rqt_graph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8. RVIZ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Вывести графический интерфейс взаимодействия с роботом (позволяет выводить показания сенсоров и давать команды):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 rviz2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6" name="Google Shape;44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9386" y="3232086"/>
            <a:ext cx="5799273" cy="32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821" y="4079266"/>
            <a:ext cx="5129971" cy="2778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5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Работа через командную строку</a:t>
            </a:r>
            <a:endParaRPr/>
          </a:p>
        </p:txBody>
      </p:sp>
      <p:sp>
        <p:nvSpPr>
          <p:cNvPr id="453" name="Google Shape;453;p75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54" name="Google Shape;454;p75"/>
          <p:cNvSpPr txBox="1"/>
          <p:nvPr/>
        </p:nvSpPr>
        <p:spPr>
          <a:xfrm>
            <a:off x="101885" y="556518"/>
            <a:ext cx="11468443" cy="6158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ROS и Docker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Docker - легкая виртуальная машина (не погружаясь в технические детали)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Для упрощения развертывания приложений, в том числе систем машинного обучения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lang="ru-RU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Для изоляции разных окружений на машинах с несколькими пользователями и/или проектами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Консольная команда docker - для работы с инфраструктурой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Если работает на одной системе, должно и на других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Создаем Dockerfile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и описываем в нем установку и настройку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необходимых пакетов 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Создаем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из Dockerfile </a:t>
            </a: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образ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(Image): 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docker build --tag &lt;имя образа&gt; 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Запускаем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контейнер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из созданного образа: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docker  run -it &lt;имя образа&gt;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Чтобы получить доступ к экрану из контейнера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(необходимо для запуска графических приложений из контейнера),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можно запустить следующим образом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docker run -e DISPLAY=unix$DISPLAY -v /tmp/.X11-unix:/tmp/.X11-unix </a:t>
            </a:r>
            <a:b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-it &lt;имя образа&gt;  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Если при запуске возникает ошибка вида: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protocol specified 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Error: cannot open display: unix:0.0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❏"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Необходимо разрешить локальные несетевые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подключения на компьютере-хосте:</a:t>
            </a:r>
            <a:endParaRPr b="0" i="0" sz="1400" u="none" cap="none" strike="noStrike">
              <a:solidFill>
                <a:srgbClr val="9216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9216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 xhost +local: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397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685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5" name="Google Shape;455;p75"/>
          <p:cNvSpPr/>
          <p:nvPr/>
        </p:nvSpPr>
        <p:spPr>
          <a:xfrm>
            <a:off x="5510235" y="6087439"/>
            <a:ext cx="6513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Аппаратура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5"/>
          <p:cNvSpPr/>
          <p:nvPr/>
        </p:nvSpPr>
        <p:spPr>
          <a:xfrm>
            <a:off x="5510110" y="5459664"/>
            <a:ext cx="6513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Ядро 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5"/>
          <p:cNvSpPr/>
          <p:nvPr/>
        </p:nvSpPr>
        <p:spPr>
          <a:xfrm>
            <a:off x="5510235" y="5063189"/>
            <a:ext cx="14058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клиент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5"/>
          <p:cNvSpPr/>
          <p:nvPr/>
        </p:nvSpPr>
        <p:spPr>
          <a:xfrm>
            <a:off x="6996191" y="5063189"/>
            <a:ext cx="24666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движок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5"/>
          <p:cNvSpPr/>
          <p:nvPr/>
        </p:nvSpPr>
        <p:spPr>
          <a:xfrm>
            <a:off x="8636235" y="2398989"/>
            <a:ext cx="1586400" cy="186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Контейнер 2 c ROS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75"/>
          <p:cNvSpPr/>
          <p:nvPr/>
        </p:nvSpPr>
        <p:spPr>
          <a:xfrm>
            <a:off x="10487097" y="6203089"/>
            <a:ext cx="14058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5"/>
          <p:cNvSpPr/>
          <p:nvPr/>
        </p:nvSpPr>
        <p:spPr>
          <a:xfrm>
            <a:off x="7591934" y="6203089"/>
            <a:ext cx="28248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Сенсоры технического зрения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5"/>
          <p:cNvSpPr/>
          <p:nvPr/>
        </p:nvSpPr>
        <p:spPr>
          <a:xfrm>
            <a:off x="10487097" y="5575314"/>
            <a:ext cx="14058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CUDA Driver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5"/>
          <p:cNvSpPr/>
          <p:nvPr/>
        </p:nvSpPr>
        <p:spPr>
          <a:xfrm>
            <a:off x="7591934" y="5575314"/>
            <a:ext cx="28248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Драйверы сенсоров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5"/>
          <p:cNvSpPr/>
          <p:nvPr/>
        </p:nvSpPr>
        <p:spPr>
          <a:xfrm>
            <a:off x="8746785" y="2766514"/>
            <a:ext cx="1365300" cy="13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Пакет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5"/>
          <p:cNvSpPr/>
          <p:nvPr/>
        </p:nvSpPr>
        <p:spPr>
          <a:xfrm>
            <a:off x="8878785" y="315525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2.1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5"/>
          <p:cNvSpPr/>
          <p:nvPr/>
        </p:nvSpPr>
        <p:spPr>
          <a:xfrm>
            <a:off x="8878785" y="3495077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5"/>
          <p:cNvSpPr/>
          <p:nvPr/>
        </p:nvSpPr>
        <p:spPr>
          <a:xfrm>
            <a:off x="8878785" y="383490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5"/>
          <p:cNvSpPr/>
          <p:nvPr/>
        </p:nvSpPr>
        <p:spPr>
          <a:xfrm>
            <a:off x="6996185" y="2398989"/>
            <a:ext cx="1586400" cy="186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Контейнер 1 c ROS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5"/>
          <p:cNvSpPr/>
          <p:nvPr/>
        </p:nvSpPr>
        <p:spPr>
          <a:xfrm>
            <a:off x="7106735" y="2766514"/>
            <a:ext cx="1365300" cy="13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Пакет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5"/>
          <p:cNvSpPr/>
          <p:nvPr/>
        </p:nvSpPr>
        <p:spPr>
          <a:xfrm>
            <a:off x="7238735" y="315525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5"/>
          <p:cNvSpPr/>
          <p:nvPr/>
        </p:nvSpPr>
        <p:spPr>
          <a:xfrm>
            <a:off x="7238735" y="3495077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5"/>
          <p:cNvSpPr/>
          <p:nvPr/>
        </p:nvSpPr>
        <p:spPr>
          <a:xfrm>
            <a:off x="7238735" y="383490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75"/>
          <p:cNvSpPr/>
          <p:nvPr/>
        </p:nvSpPr>
        <p:spPr>
          <a:xfrm>
            <a:off x="6996185" y="4332889"/>
            <a:ext cx="5027100" cy="66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Контейнер 0 с 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5"/>
          <p:cNvSpPr/>
          <p:nvPr/>
        </p:nvSpPr>
        <p:spPr>
          <a:xfrm>
            <a:off x="7685585" y="4671239"/>
            <a:ext cx="3648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rosmaster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75"/>
          <p:cNvSpPr/>
          <p:nvPr/>
        </p:nvSpPr>
        <p:spPr>
          <a:xfrm>
            <a:off x="10416710" y="2398989"/>
            <a:ext cx="1586400" cy="186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Контейнер N c ROS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5"/>
          <p:cNvSpPr/>
          <p:nvPr/>
        </p:nvSpPr>
        <p:spPr>
          <a:xfrm>
            <a:off x="10518835" y="2766514"/>
            <a:ext cx="1365300" cy="13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Пакет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75"/>
          <p:cNvSpPr/>
          <p:nvPr/>
        </p:nvSpPr>
        <p:spPr>
          <a:xfrm>
            <a:off x="10659260" y="315525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N.1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5"/>
          <p:cNvSpPr/>
          <p:nvPr/>
        </p:nvSpPr>
        <p:spPr>
          <a:xfrm>
            <a:off x="10659260" y="3495077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Узел N.2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75"/>
          <p:cNvSpPr/>
          <p:nvPr/>
        </p:nvSpPr>
        <p:spPr>
          <a:xfrm>
            <a:off x="10659260" y="3834902"/>
            <a:ext cx="11013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5"/>
          <p:cNvSpPr/>
          <p:nvPr/>
        </p:nvSpPr>
        <p:spPr>
          <a:xfrm>
            <a:off x="9542941" y="5056627"/>
            <a:ext cx="24666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nvidia-docker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6"/>
          <p:cNvSpPr/>
          <p:nvPr/>
        </p:nvSpPr>
        <p:spPr>
          <a:xfrm>
            <a:off x="-1" y="0"/>
            <a:ext cx="12192001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Основы программирования под ROS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6"/>
          <p:cNvSpPr txBox="1"/>
          <p:nvPr>
            <p:ph idx="12" type="sldNum"/>
          </p:nvPr>
        </p:nvSpPr>
        <p:spPr>
          <a:xfrm>
            <a:off x="9033660" y="-46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487" name="Google Shape;487;p76"/>
          <p:cNvSpPr txBox="1"/>
          <p:nvPr/>
        </p:nvSpPr>
        <p:spPr>
          <a:xfrm>
            <a:off x="101886" y="556518"/>
            <a:ext cx="5185338" cy="604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❏"/>
            </a:pP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rosmaster </a:t>
            </a: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предоставляет API для регистрации/отмены регистрации топиков и сервисов, а также для получения списка запущенных нодов, зарегистрированных топиков и т.д.</a:t>
            </a:r>
            <a:endParaRPr/>
          </a:p>
          <a:p>
            <a:pPr indent="-317500" lvl="0" marL="4572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 Condensed Light"/>
              <a:buChar char="❏"/>
            </a:pP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Клиентские библиотеки</a:t>
            </a: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используют </a:t>
            </a: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rosmaster API </a:t>
            </a: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и предоставляют разработчику простой механизм создания нодов, публикации топиков и т.д.</a:t>
            </a:r>
            <a:endParaRPr/>
          </a:p>
          <a:p>
            <a:pPr indent="-317500" lvl="0" marL="4572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 Condensed Light"/>
              <a:buChar char="❏"/>
            </a:pPr>
            <a:r>
              <a:rPr b="1" i="0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Важно! </a:t>
            </a: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Используйте </a:t>
            </a:r>
            <a:r>
              <a:rPr b="1" i="1" lang="ru-RU" sz="1400" u="none" cap="none" strike="noStrike">
                <a:solidFill>
                  <a:srgbClr val="33333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rosmaster API</a:t>
            </a:r>
            <a:r>
              <a:rPr b="0" i="1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b="0" i="0" lang="ru-RU" sz="1400" u="none" cap="none" strike="noStrike">
                <a:solidFill>
                  <a:srgbClr val="33333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напрямую, только если вы реализуете поддержку нового языка программирования. Список поддерживаемых языков может быть найден по ссылке: </a:t>
            </a:r>
            <a:r>
              <a:rPr b="0" i="0" lang="ru-RU" sz="1400" u="sng" cap="none" strike="noStrike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http://wiki.ros.org/Client%20Libraries</a:t>
            </a:r>
            <a:endParaRPr b="0" i="0" sz="1400" u="sng" cap="none" strike="noStrike">
              <a:solidFill>
                <a:schemeClr val="hlink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каждом новом терминале на роботе (кроме roscore) нужно переходить в </a:t>
            </a:r>
            <a:r>
              <a:rPr lang="ru-RU">
                <a:solidFill>
                  <a:schemeClr val="dk1"/>
                </a:solidFill>
              </a:rPr>
              <a:t>ros2_ws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делать source: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cd ~/workspace/</a:t>
            </a:r>
            <a:r>
              <a:rPr lang="ru-RU">
                <a:solidFill>
                  <a:schemeClr val="dk1"/>
                </a:solidFill>
              </a:rPr>
              <a:t>ros2_ws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source </a:t>
            </a:r>
            <a:r>
              <a:rPr lang="ru-RU">
                <a:solidFill>
                  <a:schemeClr val="dk1"/>
                </a:solidFill>
              </a:rPr>
              <a:t>install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/setup.bash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Сборка рабочего пространства: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lang="ru-RU">
                <a:solidFill>
                  <a:schemeClr val="dk1"/>
                </a:solidFill>
              </a:rPr>
              <a:t>colcon build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 Condensed Light"/>
              <a:buNone/>
            </a:pPr>
            <a:r>
              <a:t/>
            </a:r>
            <a:endParaRPr b="0" i="0" sz="1400" u="sng" cap="none" strike="noStrike">
              <a:solidFill>
                <a:schemeClr val="hlink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88" name="Google Shape;488;p76"/>
          <p:cNvGrpSpPr/>
          <p:nvPr/>
        </p:nvGrpSpPr>
        <p:grpSpPr>
          <a:xfrm>
            <a:off x="6095999" y="2293025"/>
            <a:ext cx="4722892" cy="4152090"/>
            <a:chOff x="4177775" y="843710"/>
            <a:chExt cx="4270120" cy="4152090"/>
          </a:xfrm>
        </p:grpSpPr>
        <p:grpSp>
          <p:nvGrpSpPr>
            <p:cNvPr id="489" name="Google Shape;489;p76"/>
            <p:cNvGrpSpPr/>
            <p:nvPr/>
          </p:nvGrpSpPr>
          <p:grpSpPr>
            <a:xfrm>
              <a:off x="4180511" y="843710"/>
              <a:ext cx="4267384" cy="1268864"/>
              <a:chOff x="4337975" y="1434238"/>
              <a:chExt cx="3122400" cy="1948800"/>
            </a:xfrm>
          </p:grpSpPr>
          <p:sp>
            <p:nvSpPr>
              <p:cNvPr id="490" name="Google Shape;490;p76"/>
              <p:cNvSpPr/>
              <p:nvPr/>
            </p:nvSpPr>
            <p:spPr>
              <a:xfrm>
                <a:off x="4337975" y="1434238"/>
                <a:ext cx="3122400" cy="19488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FFFFFF"/>
                    </a:solidFill>
                    <a:latin typeface="Roboto Condensed Light"/>
                    <a:ea typeface="Roboto Condensed Light"/>
                    <a:cs typeface="Roboto Condensed Light"/>
                    <a:sym typeface="Roboto Condensed Light"/>
                  </a:rPr>
                  <a:t>ROS master</a:t>
                </a:r>
                <a:endParaRPr b="0" i="0" sz="18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endParaRPr>
              </a:p>
            </p:txBody>
          </p:sp>
          <p:sp>
            <p:nvSpPr>
              <p:cNvPr id="491" name="Google Shape;491;p76"/>
              <p:cNvSpPr/>
              <p:nvPr/>
            </p:nvSpPr>
            <p:spPr>
              <a:xfrm>
                <a:off x="5541653" y="2548138"/>
                <a:ext cx="1549500" cy="834900"/>
              </a:xfrm>
              <a:prstGeom prst="rect">
                <a:avLst/>
              </a:prstGeom>
              <a:solidFill>
                <a:srgbClr val="000000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FFFFFF"/>
                    </a:solidFill>
                    <a:latin typeface="Roboto Condensed Light"/>
                    <a:ea typeface="Roboto Condensed Light"/>
                    <a:cs typeface="Roboto Condensed Light"/>
                    <a:sym typeface="Roboto Condensed Light"/>
                  </a:rPr>
                  <a:t>ROS master API</a:t>
                </a:r>
                <a:endParaRPr b="0" i="0" sz="18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endParaRPr>
              </a:p>
            </p:txBody>
          </p:sp>
        </p:grpSp>
        <p:pic>
          <p:nvPicPr>
            <p:cNvPr id="492" name="Google Shape;49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04975" y="4036900"/>
              <a:ext cx="958900" cy="95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76"/>
            <p:cNvSpPr/>
            <p:nvPr/>
          </p:nvSpPr>
          <p:spPr>
            <a:xfrm>
              <a:off x="4177775" y="2351625"/>
              <a:ext cx="4267500" cy="1162200"/>
            </a:xfrm>
            <a:prstGeom prst="rect">
              <a:avLst/>
            </a:prstGeom>
            <a:solidFill>
              <a:srgbClr val="000000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4" name="Google Shape;494;p76"/>
            <p:cNvSpPr/>
            <p:nvPr/>
          </p:nvSpPr>
          <p:spPr>
            <a:xfrm>
              <a:off x="5409813" y="2774475"/>
              <a:ext cx="822900" cy="316500"/>
            </a:xfrm>
            <a:prstGeom prst="rect">
              <a:avLst/>
            </a:prstGeom>
            <a:solidFill>
              <a:srgbClr val="00000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roscpp</a:t>
              </a:r>
              <a:endParaRPr b="0" i="0" sz="1800" u="none" cap="none" strike="noStrik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5" name="Google Shape;495;p76"/>
            <p:cNvSpPr/>
            <p:nvPr/>
          </p:nvSpPr>
          <p:spPr>
            <a:xfrm>
              <a:off x="6472975" y="2772675"/>
              <a:ext cx="822900" cy="320100"/>
            </a:xfrm>
            <a:prstGeom prst="rect">
              <a:avLst/>
            </a:prstGeom>
            <a:solidFill>
              <a:srgbClr val="00000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rospy</a:t>
              </a:r>
              <a:endParaRPr b="0" i="0" sz="1800" u="none" cap="none" strike="noStrik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6" name="Google Shape;496;p76"/>
            <p:cNvSpPr/>
            <p:nvPr/>
          </p:nvSpPr>
          <p:spPr>
            <a:xfrm>
              <a:off x="7536138" y="2772675"/>
              <a:ext cx="822900" cy="320100"/>
            </a:xfrm>
            <a:prstGeom prst="rect">
              <a:avLst/>
            </a:prstGeom>
            <a:solidFill>
              <a:srgbClr val="00000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roslisp</a:t>
              </a:r>
              <a:endParaRPr b="0" i="0" sz="1800" u="none" cap="none" strike="noStrik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497" name="Google Shape;497;p76"/>
            <p:cNvCxnSpPr>
              <a:stCxn id="492" idx="0"/>
              <a:endCxn id="494" idx="2"/>
            </p:cNvCxnSpPr>
            <p:nvPr/>
          </p:nvCxnSpPr>
          <p:spPr>
            <a:xfrm rot="10800000">
              <a:off x="5821225" y="3091000"/>
              <a:ext cx="1063200" cy="945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498" name="Google Shape;498;p76"/>
            <p:cNvCxnSpPr>
              <a:stCxn id="492" idx="0"/>
              <a:endCxn id="495" idx="2"/>
            </p:cNvCxnSpPr>
            <p:nvPr/>
          </p:nvCxnSpPr>
          <p:spPr>
            <a:xfrm rot="10800000">
              <a:off x="6884425" y="3092800"/>
              <a:ext cx="0" cy="944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499" name="Google Shape;499;p76"/>
            <p:cNvCxnSpPr>
              <a:stCxn id="492" idx="0"/>
              <a:endCxn id="496" idx="2"/>
            </p:cNvCxnSpPr>
            <p:nvPr/>
          </p:nvCxnSpPr>
          <p:spPr>
            <a:xfrm flipH="1" rot="10800000">
              <a:off x="6884425" y="3092800"/>
              <a:ext cx="1063200" cy="944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500" name="Google Shape;500;p76"/>
            <p:cNvSpPr/>
            <p:nvPr/>
          </p:nvSpPr>
          <p:spPr>
            <a:xfrm>
              <a:off x="4186850" y="2486325"/>
              <a:ext cx="1141800" cy="8928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ru-RU" sz="1500" u="none" cap="none" strike="noStrike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Клиентские библиотеки</a:t>
              </a:r>
              <a:endParaRPr b="0" i="0" sz="15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501" name="Google Shape;501;p76"/>
            <p:cNvCxnSpPr>
              <a:stCxn id="494" idx="0"/>
              <a:endCxn id="491" idx="2"/>
            </p:cNvCxnSpPr>
            <p:nvPr/>
          </p:nvCxnSpPr>
          <p:spPr>
            <a:xfrm flipH="1" rot="10800000">
              <a:off x="5821263" y="2112675"/>
              <a:ext cx="1063200" cy="661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502" name="Google Shape;502;p76"/>
            <p:cNvCxnSpPr>
              <a:stCxn id="495" idx="0"/>
              <a:endCxn id="491" idx="2"/>
            </p:cNvCxnSpPr>
            <p:nvPr/>
          </p:nvCxnSpPr>
          <p:spPr>
            <a:xfrm rot="10800000">
              <a:off x="6884425" y="2112675"/>
              <a:ext cx="0" cy="6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503" name="Google Shape;503;p76"/>
            <p:cNvCxnSpPr>
              <a:stCxn id="496" idx="0"/>
              <a:endCxn id="491" idx="2"/>
            </p:cNvCxnSpPr>
            <p:nvPr/>
          </p:nvCxnSpPr>
          <p:spPr>
            <a:xfrm rot="10800000">
              <a:off x="6884388" y="2112675"/>
              <a:ext cx="1063200" cy="6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a37fbf11a_0_14"/>
          <p:cNvSpPr/>
          <p:nvPr/>
        </p:nvSpPr>
        <p:spPr>
          <a:xfrm>
            <a:off x="-1" y="0"/>
            <a:ext cx="12192000" cy="4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a37fbf11a_0_14"/>
          <p:cNvSpPr txBox="1"/>
          <p:nvPr>
            <p:ph idx="12" type="sldNum"/>
          </p:nvPr>
        </p:nvSpPr>
        <p:spPr>
          <a:xfrm>
            <a:off x="9033660" y="-466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ru-RU" sz="2000">
                <a:solidFill>
                  <a:schemeClr val="lt1"/>
                </a:solidFill>
              </a:rPr>
              <a:t>‹#›</a:t>
            </a:fld>
            <a:endParaRPr b="1" sz="2000">
              <a:solidFill>
                <a:schemeClr val="lt1"/>
              </a:solidFill>
            </a:endParaRPr>
          </a:p>
        </p:txBody>
      </p:sp>
      <p:sp>
        <p:nvSpPr>
          <p:cNvPr id="510" name="Google Shape;510;g3fa37fbf11a_0_14"/>
          <p:cNvSpPr txBox="1"/>
          <p:nvPr/>
        </p:nvSpPr>
        <p:spPr>
          <a:xfrm>
            <a:off x="1152600" y="1594425"/>
            <a:ext cx="92592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a37fbf11a_0_14"/>
          <p:cNvSpPr txBox="1"/>
          <p:nvPr/>
        </p:nvSpPr>
        <p:spPr>
          <a:xfrm>
            <a:off x="528275" y="3265725"/>
            <a:ext cx="116637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Туториалы ROS 2: </a:t>
            </a:r>
            <a:r>
              <a:rPr lang="ru-RU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https://docs.ros.org/en/humble/Tutorials.html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2019-02-28T16:41:35Z</dcterms:created>
  <dc:creator>A P</dc:creator>
</cp:coreProperties>
</file>